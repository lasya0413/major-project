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4" r:id="rId3"/>
    <p:sldId id="257" r:id="rId4"/>
    <p:sldId id="258" r:id="rId5"/>
    <p:sldId id="259" r:id="rId6"/>
    <p:sldId id="276" r:id="rId7"/>
    <p:sldId id="260" r:id="rId8"/>
    <p:sldId id="277" r:id="rId9"/>
    <p:sldId id="282" r:id="rId10"/>
    <p:sldId id="261" r:id="rId11"/>
    <p:sldId id="263" r:id="rId12"/>
    <p:sldId id="264" r:id="rId13"/>
    <p:sldId id="281" r:id="rId14"/>
    <p:sldId id="279" r:id="rId15"/>
    <p:sldId id="283" r:id="rId16"/>
    <p:sldId id="266" r:id="rId17"/>
    <p:sldId id="268" r:id="rId18"/>
    <p:sldId id="269"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219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01" autoAdjust="0"/>
    <p:restoredTop sz="94404" autoAdjust="0"/>
  </p:normalViewPr>
  <p:slideViewPr>
    <p:cSldViewPr snapToGrid="0">
      <p:cViewPr varScale="1">
        <p:scale>
          <a:sx n="74" d="100"/>
          <a:sy n="74" d="100"/>
        </p:scale>
        <p:origin x="328" y="5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06FFDF-778A-4F54-9AA5-61B3B0992678}" type="datetimeFigureOut">
              <a:rPr lang="en-IN" smtClean="0"/>
              <a:t>15-04-2026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C1800F-386D-4C72-816E-668EF9C83736}" type="slidenum">
              <a:rPr lang="en-IN" smtClean="0"/>
              <a:t>‹#›</a:t>
            </a:fld>
            <a:endParaRPr lang="en-IN"/>
          </a:p>
        </p:txBody>
      </p:sp>
    </p:spTree>
    <p:extLst>
      <p:ext uri="{BB962C8B-B14F-4D97-AF65-F5344CB8AC3E}">
        <p14:creationId xmlns:p14="http://schemas.microsoft.com/office/powerpoint/2010/main" val="1645000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1</a:t>
            </a:fld>
            <a:endParaRPr lang="en-IN"/>
          </a:p>
        </p:txBody>
      </p:sp>
    </p:spTree>
    <p:extLst>
      <p:ext uri="{BB962C8B-B14F-4D97-AF65-F5344CB8AC3E}">
        <p14:creationId xmlns:p14="http://schemas.microsoft.com/office/powerpoint/2010/main" val="1262000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3</a:t>
            </a:fld>
            <a:endParaRPr lang="en-IN"/>
          </a:p>
        </p:txBody>
      </p:sp>
    </p:spTree>
    <p:extLst>
      <p:ext uri="{BB962C8B-B14F-4D97-AF65-F5344CB8AC3E}">
        <p14:creationId xmlns:p14="http://schemas.microsoft.com/office/powerpoint/2010/main" val="2613655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4</a:t>
            </a:fld>
            <a:endParaRPr lang="en-IN"/>
          </a:p>
        </p:txBody>
      </p:sp>
    </p:spTree>
    <p:extLst>
      <p:ext uri="{BB962C8B-B14F-4D97-AF65-F5344CB8AC3E}">
        <p14:creationId xmlns:p14="http://schemas.microsoft.com/office/powerpoint/2010/main" val="2818847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5</a:t>
            </a:fld>
            <a:endParaRPr lang="en-IN"/>
          </a:p>
        </p:txBody>
      </p:sp>
    </p:spTree>
    <p:extLst>
      <p:ext uri="{BB962C8B-B14F-4D97-AF65-F5344CB8AC3E}">
        <p14:creationId xmlns:p14="http://schemas.microsoft.com/office/powerpoint/2010/main" val="2794572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7</a:t>
            </a:fld>
            <a:endParaRPr lang="en-IN"/>
          </a:p>
        </p:txBody>
      </p:sp>
    </p:spTree>
    <p:extLst>
      <p:ext uri="{BB962C8B-B14F-4D97-AF65-F5344CB8AC3E}">
        <p14:creationId xmlns:p14="http://schemas.microsoft.com/office/powerpoint/2010/main" val="2339522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9</a:t>
            </a:fld>
            <a:endParaRPr lang="en-IN"/>
          </a:p>
        </p:txBody>
      </p:sp>
    </p:spTree>
    <p:extLst>
      <p:ext uri="{BB962C8B-B14F-4D97-AF65-F5344CB8AC3E}">
        <p14:creationId xmlns:p14="http://schemas.microsoft.com/office/powerpoint/2010/main" val="851620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8C1800F-386D-4C72-816E-668EF9C83736}" type="slidenum">
              <a:rPr lang="en-IN" smtClean="0"/>
              <a:t>10</a:t>
            </a:fld>
            <a:endParaRPr lang="en-IN"/>
          </a:p>
        </p:txBody>
      </p:sp>
    </p:spTree>
    <p:extLst>
      <p:ext uri="{BB962C8B-B14F-4D97-AF65-F5344CB8AC3E}">
        <p14:creationId xmlns:p14="http://schemas.microsoft.com/office/powerpoint/2010/main" val="2061174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11</a:t>
            </a:fld>
            <a:endParaRPr lang="en-IN"/>
          </a:p>
        </p:txBody>
      </p:sp>
    </p:spTree>
    <p:extLst>
      <p:ext uri="{BB962C8B-B14F-4D97-AF65-F5344CB8AC3E}">
        <p14:creationId xmlns:p14="http://schemas.microsoft.com/office/powerpoint/2010/main" val="2529961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C1800F-386D-4C72-816E-668EF9C83736}" type="slidenum">
              <a:rPr lang="en-IN" smtClean="0"/>
              <a:t>16</a:t>
            </a:fld>
            <a:endParaRPr lang="en-IN"/>
          </a:p>
        </p:txBody>
      </p:sp>
    </p:spTree>
    <p:extLst>
      <p:ext uri="{BB962C8B-B14F-4D97-AF65-F5344CB8AC3E}">
        <p14:creationId xmlns:p14="http://schemas.microsoft.com/office/powerpoint/2010/main" val="2776003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0CD3-29B4-8BD3-7368-9910253ED8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93CFD9-BB64-9E79-3728-408E3DC4F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7B7FDB-0B48-09A9-309B-55A3A06BC739}"/>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5" name="Footer Placeholder 4">
            <a:extLst>
              <a:ext uri="{FF2B5EF4-FFF2-40B4-BE49-F238E27FC236}">
                <a16:creationId xmlns:a16="http://schemas.microsoft.com/office/drawing/2014/main" id="{397CF144-076E-4BE2-3607-56682B4A3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F55963-AB71-AD08-8B5D-46FEE5C8413A}"/>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3250121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2F4B3-7A81-7047-5E27-D4E777A3E9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689043-8042-01E6-9002-77515975DD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D00C12-F813-E97F-4EF3-57E71BB1016C}"/>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5" name="Footer Placeholder 4">
            <a:extLst>
              <a:ext uri="{FF2B5EF4-FFF2-40B4-BE49-F238E27FC236}">
                <a16:creationId xmlns:a16="http://schemas.microsoft.com/office/drawing/2014/main" id="{3397D09A-3F0F-9EDD-7B0D-1672D1E930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6ABAB3-5D10-2264-2CAB-51833EF799FB}"/>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2074327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04A85-0351-ECBD-1238-39DF5D5837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8823F7-4175-94D6-BCFB-114E8B743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A23037-C381-E8E4-3ACD-8896BFBF851D}"/>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5" name="Footer Placeholder 4">
            <a:extLst>
              <a:ext uri="{FF2B5EF4-FFF2-40B4-BE49-F238E27FC236}">
                <a16:creationId xmlns:a16="http://schemas.microsoft.com/office/drawing/2014/main" id="{8804D9E2-A7CA-2C2B-78CE-BEA5E641C6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411DD4-9F2E-EA61-EDA8-08FDBC594F48}"/>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4031562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03848-E600-E2C1-5663-5C8A83F0EF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1502FA-77C7-5FC6-5ED5-405F35407F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C20B3B-417C-ED6B-E3D3-0C26164EF9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746B8B-211F-986E-7E9B-DA16CE89244E}"/>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6" name="Footer Placeholder 5">
            <a:extLst>
              <a:ext uri="{FF2B5EF4-FFF2-40B4-BE49-F238E27FC236}">
                <a16:creationId xmlns:a16="http://schemas.microsoft.com/office/drawing/2014/main" id="{5FF68CDB-CE89-8E49-86CD-9B74D70B6C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7B8AC9-2250-69DF-DA33-C3B43DA309AA}"/>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229344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64820-7C32-B3D9-2882-8DF9329E27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E86279-22B0-D781-9E08-A5A0CC4BBD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BE14CA-3AD1-4ECD-D5C5-92B62EBC05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DE0D9A-AA60-FA55-4A28-FF1A55AEA6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577F23-0090-7F76-B35E-66104115F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B2C99E-4FCE-55E5-FD7C-D3645AD24726}"/>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8" name="Footer Placeholder 7">
            <a:extLst>
              <a:ext uri="{FF2B5EF4-FFF2-40B4-BE49-F238E27FC236}">
                <a16:creationId xmlns:a16="http://schemas.microsoft.com/office/drawing/2014/main" id="{1D0E99ED-D223-E367-4E89-998C18CFC1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BAB8E7-33DC-CB0C-7BD5-3DB5360BD3F9}"/>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61604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CDB57-FCB7-9E62-FDBF-E27BFC9F8A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AE162B-5EAD-E26E-F696-353BC85319F2}"/>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4" name="Footer Placeholder 3">
            <a:extLst>
              <a:ext uri="{FF2B5EF4-FFF2-40B4-BE49-F238E27FC236}">
                <a16:creationId xmlns:a16="http://schemas.microsoft.com/office/drawing/2014/main" id="{92221605-6A80-36D6-5EC0-5F6DB424E7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75F4DC-2066-9637-9D9B-52CD0DFD12F6}"/>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282129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41FFCA-7377-A162-0C07-4ABAB8998B75}"/>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3" name="Footer Placeholder 2">
            <a:extLst>
              <a:ext uri="{FF2B5EF4-FFF2-40B4-BE49-F238E27FC236}">
                <a16:creationId xmlns:a16="http://schemas.microsoft.com/office/drawing/2014/main" id="{E78AB8DA-0673-6863-17FD-09BE2D14E4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D3192D-35C0-675F-9D3E-DC086858E791}"/>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2533972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72B24-89C9-4E96-56C5-6C97F81E8E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7B8041-CA91-CC05-8375-85407DA578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3391F38-4B60-4E06-481A-7610A10A8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C5333-A53E-4F2E-1B7A-8E42D7218DD8}"/>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6" name="Footer Placeholder 5">
            <a:extLst>
              <a:ext uri="{FF2B5EF4-FFF2-40B4-BE49-F238E27FC236}">
                <a16:creationId xmlns:a16="http://schemas.microsoft.com/office/drawing/2014/main" id="{BCB46A4A-9DFD-F2AC-CDD4-98BFDE14C8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5BF3E0-6799-9646-456A-44922796C84F}"/>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281029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BCA0-28DF-30A8-4492-94EDB65E7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26F47D-5C7A-41A9-1180-CA54C97AF5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52F6CB-249C-FFC2-C8C3-117F0CDD2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A7214E-43D1-ACA1-5CC1-845574EB6CE0}"/>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6" name="Footer Placeholder 5">
            <a:extLst>
              <a:ext uri="{FF2B5EF4-FFF2-40B4-BE49-F238E27FC236}">
                <a16:creationId xmlns:a16="http://schemas.microsoft.com/office/drawing/2014/main" id="{C72E769E-DEDB-0DBC-75B1-ACC9F9E654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E2F45C-47E6-DBD3-8818-03A4229A792C}"/>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74387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2C42-129C-9162-4000-0077876611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CEF361-B176-AE8A-DC1A-A4EB95B45D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14B26C-851B-40F7-6F50-69570F447968}"/>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5" name="Footer Placeholder 4">
            <a:extLst>
              <a:ext uri="{FF2B5EF4-FFF2-40B4-BE49-F238E27FC236}">
                <a16:creationId xmlns:a16="http://schemas.microsoft.com/office/drawing/2014/main" id="{D32A685C-65E6-7694-09EA-06A222EB35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DFB7A1-51A1-CB0E-D023-56D935B5F27D}"/>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1541974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47577-2D12-931C-F4FB-21F75E2432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012F44-7318-6BB5-F6E7-5A44C693AA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69E6B6-2488-CFBF-A517-12B92241DCC0}"/>
              </a:ext>
            </a:extLst>
          </p:cNvPr>
          <p:cNvSpPr>
            <a:spLocks noGrp="1"/>
          </p:cNvSpPr>
          <p:nvPr>
            <p:ph type="dt" sz="half" idx="10"/>
          </p:nvPr>
        </p:nvSpPr>
        <p:spPr/>
        <p:txBody>
          <a:bodyPr/>
          <a:lstStyle/>
          <a:p>
            <a:fld id="{77E7244C-EB7A-49F6-ACEE-262083067740}" type="datetimeFigureOut">
              <a:rPr lang="en-IN" smtClean="0"/>
              <a:t>15-04-2026</a:t>
            </a:fld>
            <a:endParaRPr lang="en-IN"/>
          </a:p>
        </p:txBody>
      </p:sp>
      <p:sp>
        <p:nvSpPr>
          <p:cNvPr id="5" name="Footer Placeholder 4">
            <a:extLst>
              <a:ext uri="{FF2B5EF4-FFF2-40B4-BE49-F238E27FC236}">
                <a16:creationId xmlns:a16="http://schemas.microsoft.com/office/drawing/2014/main" id="{B82A9034-49AA-9378-7E76-52C8008CFC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D8E028-E2A1-027A-BFFB-2512339BFB92}"/>
              </a:ext>
            </a:extLst>
          </p:cNvPr>
          <p:cNvSpPr>
            <a:spLocks noGrp="1"/>
          </p:cNvSpPr>
          <p:nvPr>
            <p:ph type="sldNum" sz="quarter" idx="12"/>
          </p:nvPr>
        </p:nvSpPr>
        <p:spPr/>
        <p:txBody>
          <a:bodyPr/>
          <a:lstStyle/>
          <a:p>
            <a:fld id="{2106C035-569C-49F4-9B42-5C7228D38BAF}" type="slidenum">
              <a:rPr lang="en-IN" smtClean="0"/>
              <a:t>‹#›</a:t>
            </a:fld>
            <a:endParaRPr lang="en-IN"/>
          </a:p>
        </p:txBody>
      </p:sp>
    </p:spTree>
    <p:extLst>
      <p:ext uri="{BB962C8B-B14F-4D97-AF65-F5344CB8AC3E}">
        <p14:creationId xmlns:p14="http://schemas.microsoft.com/office/powerpoint/2010/main" val="164628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F94985-38AE-D8E2-84A6-3EB95C3B36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FF86B9-58F6-E3F3-A65B-CC93107E54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EAA10-F5CC-5CE3-C67D-56EB73F88D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7244C-EB7A-49F6-ACEE-262083067740}" type="datetimeFigureOut">
              <a:rPr lang="en-IN" smtClean="0"/>
              <a:t>15-04-2026</a:t>
            </a:fld>
            <a:endParaRPr lang="en-IN"/>
          </a:p>
        </p:txBody>
      </p:sp>
      <p:sp>
        <p:nvSpPr>
          <p:cNvPr id="5" name="Footer Placeholder 4">
            <a:extLst>
              <a:ext uri="{FF2B5EF4-FFF2-40B4-BE49-F238E27FC236}">
                <a16:creationId xmlns:a16="http://schemas.microsoft.com/office/drawing/2014/main" id="{72030347-F968-7951-BA91-82D981063E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5D253F-41A7-86D8-F7BB-6227CDD4BF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6C035-569C-49F4-9B42-5C7228D38BAF}" type="slidenum">
              <a:rPr lang="en-IN" smtClean="0"/>
              <a:t>‹#›</a:t>
            </a:fld>
            <a:endParaRPr lang="en-IN"/>
          </a:p>
        </p:txBody>
      </p:sp>
    </p:spTree>
    <p:extLst>
      <p:ext uri="{BB962C8B-B14F-4D97-AF65-F5344CB8AC3E}">
        <p14:creationId xmlns:p14="http://schemas.microsoft.com/office/powerpoint/2010/main" val="229710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2.xml" /><Relationship Id="rId4" Type="http://schemas.openxmlformats.org/officeDocument/2006/relationships/image" Target="../media/image3.jpeg" /></Relationships>
</file>

<file path=ppt/slides/_rels/slide1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9.xml" /><Relationship Id="rId1" Type="http://schemas.openxmlformats.org/officeDocument/2006/relationships/slideLayout" Target="../slideLayouts/slideLayout2.xml" /><Relationship Id="rId4" Type="http://schemas.openxmlformats.org/officeDocument/2006/relationships/image" Target="../media/image1.jpeg" /></Relationships>
</file>

<file path=ppt/slides/_rels/slide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797ADD-B96A-7490-01AE-23E91C5466D0}"/>
              </a:ext>
            </a:extLst>
          </p:cNvPr>
          <p:cNvSpPr txBox="1"/>
          <p:nvPr/>
        </p:nvSpPr>
        <p:spPr>
          <a:xfrm>
            <a:off x="422058" y="1060448"/>
            <a:ext cx="11698224" cy="4801314"/>
          </a:xfrm>
          <a:prstGeom prst="rect">
            <a:avLst/>
          </a:prstGeom>
          <a:noFill/>
        </p:spPr>
        <p:txBody>
          <a:bodyPr wrap="square">
            <a:spAutoFit/>
          </a:bodyPr>
          <a:lstStyle/>
          <a:p>
            <a:pPr algn="ctr"/>
            <a:r>
              <a:rPr lang="en-US" sz="2000" b="1" dirty="0">
                <a:solidFill>
                  <a:schemeClr val="accent2">
                    <a:lumMod val="50000"/>
                  </a:schemeClr>
                </a:solidFill>
                <a:latin typeface="Times New Roman" panose="02020603050405020304" pitchFamily="18" charset="0"/>
                <a:cs typeface="Times New Roman" panose="02020603050405020304" pitchFamily="18" charset="0"/>
              </a:rPr>
              <a:t>(UGC Autonomous) </a:t>
            </a:r>
            <a:br>
              <a:rPr lang="en-IN" sz="2000" b="1" dirty="0">
                <a:solidFill>
                  <a:schemeClr val="accent2">
                    <a:lumMod val="50000"/>
                  </a:schemeClr>
                </a:solidFill>
                <a:latin typeface="Times New Roman" panose="02020603050405020304" pitchFamily="18" charset="0"/>
                <a:cs typeface="Times New Roman" panose="02020603050405020304" pitchFamily="18" charset="0"/>
              </a:rPr>
            </a:br>
            <a:r>
              <a:rPr lang="en-IN" sz="2000" b="1" dirty="0">
                <a:solidFill>
                  <a:schemeClr val="accent2">
                    <a:lumMod val="50000"/>
                  </a:schemeClr>
                </a:solidFill>
                <a:latin typeface="Times New Roman" panose="02020603050405020304" pitchFamily="18" charset="0"/>
                <a:cs typeface="Times New Roman" panose="02020603050405020304" pitchFamily="18" charset="0"/>
              </a:rPr>
              <a:t> </a:t>
            </a:r>
            <a:r>
              <a:rPr lang="en-US" sz="2000" b="1" u="sng" dirty="0">
                <a:solidFill>
                  <a:schemeClr val="accent2">
                    <a:lumMod val="50000"/>
                  </a:schemeClr>
                </a:solidFill>
                <a:latin typeface="Times New Roman" panose="02020603050405020304" pitchFamily="18" charset="0"/>
                <a:cs typeface="Times New Roman" panose="02020603050405020304" pitchFamily="18" charset="0"/>
              </a:rPr>
              <a:t>(</a:t>
            </a:r>
            <a:r>
              <a:rPr lang="en-US" sz="2000" b="1" dirty="0">
                <a:solidFill>
                  <a:schemeClr val="accent2">
                    <a:lumMod val="50000"/>
                  </a:schemeClr>
                </a:solidFill>
                <a:latin typeface="Times New Roman" panose="02020603050405020304" pitchFamily="18" charset="0"/>
                <a:cs typeface="Times New Roman" panose="02020603050405020304" pitchFamily="18" charset="0"/>
              </a:rPr>
              <a:t>NAAC Accredited with ‘A+’ </a:t>
            </a:r>
            <a:r>
              <a:rPr lang="en-US" sz="2000" b="1" dirty="0" err="1">
                <a:solidFill>
                  <a:schemeClr val="accent2">
                    <a:lumMod val="50000"/>
                  </a:schemeClr>
                </a:solidFill>
                <a:latin typeface="Times New Roman" panose="02020603050405020304" pitchFamily="18" charset="0"/>
                <a:cs typeface="Times New Roman" panose="02020603050405020304" pitchFamily="18" charset="0"/>
              </a:rPr>
              <a:t>Grade&amp;NBA</a:t>
            </a:r>
            <a:r>
              <a:rPr lang="en-US" sz="2000" b="1" dirty="0">
                <a:solidFill>
                  <a:schemeClr val="accent2">
                    <a:lumMod val="50000"/>
                  </a:schemeClr>
                </a:solidFill>
                <a:latin typeface="Times New Roman" panose="02020603050405020304" pitchFamily="18" charset="0"/>
                <a:cs typeface="Times New Roman" panose="02020603050405020304" pitchFamily="18" charset="0"/>
              </a:rPr>
              <a:t> Accredited)</a:t>
            </a:r>
          </a:p>
          <a:p>
            <a:pPr algn="ctr"/>
            <a:r>
              <a:rPr lang="en-US" sz="2000" b="1" dirty="0">
                <a:solidFill>
                  <a:schemeClr val="accent2">
                    <a:lumMod val="50000"/>
                  </a:schemeClr>
                </a:solidFill>
                <a:latin typeface="Times New Roman" panose="02020603050405020304" pitchFamily="18" charset="0"/>
                <a:cs typeface="Times New Roman" panose="02020603050405020304" pitchFamily="18" charset="0"/>
              </a:rPr>
              <a:t>(Approved by </a:t>
            </a:r>
            <a:r>
              <a:rPr lang="en-US" sz="2000" b="1" dirty="0" err="1">
                <a:solidFill>
                  <a:schemeClr val="accent2">
                    <a:lumMod val="50000"/>
                  </a:schemeClr>
                </a:solidFill>
                <a:latin typeface="Times New Roman" panose="02020603050405020304" pitchFamily="18" charset="0"/>
                <a:cs typeface="Times New Roman" panose="02020603050405020304" pitchFamily="18" charset="0"/>
              </a:rPr>
              <a:t>AICTE,Permanently</a:t>
            </a:r>
            <a:r>
              <a:rPr lang="en-US" sz="2000" b="1" dirty="0">
                <a:solidFill>
                  <a:schemeClr val="accent2">
                    <a:lumMod val="50000"/>
                  </a:schemeClr>
                </a:solidFill>
                <a:latin typeface="Times New Roman" panose="02020603050405020304" pitchFamily="18" charset="0"/>
                <a:cs typeface="Times New Roman" panose="02020603050405020304" pitchFamily="18" charset="0"/>
              </a:rPr>
              <a:t> Affiliated to JNTU Hyderabad)</a:t>
            </a:r>
          </a:p>
          <a:p>
            <a:pPr algn="ctr"/>
            <a:r>
              <a:rPr lang="en-US" b="1" dirty="0">
                <a:solidFill>
                  <a:schemeClr val="accent1"/>
                </a:solidFill>
                <a:latin typeface="Times New Roman" panose="02020603050405020304" pitchFamily="18" charset="0"/>
                <a:cs typeface="Times New Roman" panose="02020603050405020304" pitchFamily="18" charset="0"/>
              </a:rPr>
              <a:t>KANDLAKOYA,MEDCHAL ROAD,HYDERABAD-501401</a:t>
            </a:r>
            <a:endParaRPr lang="en-IN" sz="1600" b="1" dirty="0">
              <a:solidFill>
                <a:schemeClr val="accent1"/>
              </a:solidFill>
              <a:latin typeface="Times New Roman" panose="02020603050405020304" pitchFamily="18" charset="0"/>
              <a:cs typeface="Times New Roman" panose="02020603050405020304" pitchFamily="18" charset="0"/>
            </a:endParaRPr>
          </a:p>
          <a:p>
            <a:pPr algn="ctr"/>
            <a:r>
              <a:rPr lang="en-US" sz="2800" b="1" dirty="0">
                <a:solidFill>
                  <a:srgbClr val="FF0000"/>
                </a:solidFill>
                <a:latin typeface="Times New Roman" panose="02020603050405020304" pitchFamily="18" charset="0"/>
                <a:cs typeface="Times New Roman" panose="02020603050405020304" pitchFamily="18" charset="0"/>
              </a:rPr>
              <a:t>PHASE II FINAL REVIEW</a:t>
            </a:r>
          </a:p>
          <a:p>
            <a:pPr algn="ctr"/>
            <a:r>
              <a:rPr lang="en-US" sz="2000" b="1" dirty="0">
                <a:solidFill>
                  <a:schemeClr val="tx1"/>
                </a:solidFill>
                <a:latin typeface="Times New Roman" panose="02020603050405020304" pitchFamily="18" charset="0"/>
                <a:cs typeface="Times New Roman" panose="02020603050405020304" pitchFamily="18" charset="0"/>
              </a:rPr>
              <a:t>Department of Electronics and Communication Engineering</a:t>
            </a:r>
          </a:p>
          <a:p>
            <a:pPr algn="ctr"/>
            <a:r>
              <a:rPr lang="en-US" sz="2000" b="1" dirty="0">
                <a:solidFill>
                  <a:schemeClr val="accent3">
                    <a:lumMod val="50000"/>
                  </a:schemeClr>
                </a:solidFill>
                <a:latin typeface="Times New Roman" panose="02020603050405020304" pitchFamily="18" charset="0"/>
                <a:cs typeface="Times New Roman" panose="02020603050405020304" pitchFamily="18" charset="0"/>
              </a:rPr>
              <a:t>A Major Project on</a:t>
            </a:r>
          </a:p>
          <a:p>
            <a:pPr algn="ctr"/>
            <a:r>
              <a:rPr lang="en-AU" sz="2000" b="1" dirty="0">
                <a:solidFill>
                  <a:srgbClr val="C00000"/>
                </a:solidFill>
                <a:latin typeface="Times New Roman" panose="02020603050405020304" pitchFamily="18" charset="0"/>
                <a:cs typeface="Times New Roman" panose="02020603050405020304" pitchFamily="18" charset="0"/>
              </a:rPr>
              <a:t>Hybrid Cascade-CNN Architecture in Multi-Level Smart Parking Environments Integrating Real Time License Plate Recognition for Automated Access Control and Dynamic Spot Allocation</a:t>
            </a:r>
            <a:endParaRPr lang="en-IN" sz="2000" dirty="0">
              <a:solidFill>
                <a:srgbClr val="C00000"/>
              </a:solidFill>
              <a:latin typeface="Times New Roman" panose="02020603050405020304" pitchFamily="18" charset="0"/>
              <a:cs typeface="Times New Roman" panose="02020603050405020304" pitchFamily="18" charset="0"/>
            </a:endParaRPr>
          </a:p>
          <a:p>
            <a:pPr algn="l"/>
            <a:r>
              <a:rPr lang="en-IN" sz="2000" b="1" dirty="0">
                <a:solidFill>
                  <a:schemeClr val="tx1"/>
                </a:solidFill>
                <a:latin typeface="Times New Roman" panose="02020603050405020304" pitchFamily="18" charset="0"/>
                <a:cs typeface="Times New Roman" panose="02020603050405020304" pitchFamily="18" charset="0"/>
              </a:rPr>
              <a:t> </a:t>
            </a:r>
          </a:p>
          <a:p>
            <a:pPr algn="l"/>
            <a:r>
              <a:rPr lang="en-IN" sz="2000" b="1" dirty="0">
                <a:solidFill>
                  <a:srgbClr val="002060"/>
                </a:solidFill>
                <a:latin typeface="Times New Roman" panose="02020603050405020304" pitchFamily="18" charset="0"/>
                <a:cs typeface="Times New Roman" panose="02020603050405020304" pitchFamily="18" charset="0"/>
              </a:rPr>
              <a:t>BATCH N0:75</a:t>
            </a:r>
          </a:p>
          <a:p>
            <a:pPr algn="l"/>
            <a:r>
              <a:rPr lang="en-IN" sz="2000" b="1" dirty="0">
                <a:solidFill>
                  <a:schemeClr val="accent2">
                    <a:lumMod val="50000"/>
                  </a:schemeClr>
                </a:solidFill>
                <a:latin typeface="Times New Roman" panose="02020603050405020304" pitchFamily="18" charset="0"/>
                <a:cs typeface="Times New Roman" panose="02020603050405020304" pitchFamily="18" charset="0"/>
              </a:rPr>
              <a:t>TEAM DETAILS:                                                                                     Under the esteemed guidance of: </a:t>
            </a:r>
          </a:p>
          <a:p>
            <a:pPr algn="l"/>
            <a:r>
              <a:rPr lang="en-IN" sz="2000" b="1" dirty="0">
                <a:solidFill>
                  <a:schemeClr val="tx1"/>
                </a:solidFill>
                <a:latin typeface="Times New Roman" panose="02020603050405020304" pitchFamily="18" charset="0"/>
                <a:cs typeface="Times New Roman" panose="02020603050405020304" pitchFamily="18" charset="0"/>
              </a:rPr>
              <a:t>22H51A0432 – K. </a:t>
            </a:r>
            <a:r>
              <a:rPr lang="en-IN" sz="2000" b="1" dirty="0">
                <a:latin typeface="Times New Roman" panose="02020603050405020304" pitchFamily="18" charset="0"/>
                <a:cs typeface="Times New Roman" panose="02020603050405020304" pitchFamily="18" charset="0"/>
              </a:rPr>
              <a:t>Lasya Priya</a:t>
            </a:r>
            <a:r>
              <a:rPr lang="en-IN" sz="2000" b="1" dirty="0">
                <a:solidFill>
                  <a:schemeClr val="tx1"/>
                </a:solidFill>
                <a:latin typeface="Times New Roman" panose="02020603050405020304" pitchFamily="18" charset="0"/>
                <a:cs typeface="Times New Roman" panose="02020603050405020304" pitchFamily="18" charset="0"/>
              </a:rPr>
              <a:t>                                                                          Mrs</a:t>
            </a:r>
            <a:r>
              <a:rPr lang="en-IN" sz="2000" b="1" dirty="0">
                <a:latin typeface="Times New Roman" panose="02020603050405020304" pitchFamily="18" charset="0"/>
                <a:cs typeface="Times New Roman" panose="02020603050405020304" pitchFamily="18" charset="0"/>
              </a:rPr>
              <a:t>. P. Annapurna Bai</a:t>
            </a:r>
            <a:endParaRPr lang="en-IN" sz="2000" b="1" dirty="0">
              <a:solidFill>
                <a:schemeClr val="tx1"/>
              </a:solidFill>
              <a:latin typeface="Times New Roman" panose="02020603050405020304" pitchFamily="18" charset="0"/>
              <a:cs typeface="Times New Roman" panose="02020603050405020304" pitchFamily="18" charset="0"/>
            </a:endParaRPr>
          </a:p>
          <a:p>
            <a:pPr algn="l"/>
            <a:r>
              <a:rPr lang="en-IN" sz="2000" b="1" dirty="0">
                <a:solidFill>
                  <a:schemeClr val="tx1"/>
                </a:solidFill>
                <a:latin typeface="Times New Roman" panose="02020603050405020304" pitchFamily="18" charset="0"/>
                <a:cs typeface="Times New Roman" panose="02020603050405020304" pitchFamily="18" charset="0"/>
              </a:rPr>
              <a:t>22H51A0432 – J. Anulatha                                                                                 Assistant Professor</a:t>
            </a:r>
          </a:p>
          <a:p>
            <a:pPr algn="l"/>
            <a:r>
              <a:rPr lang="en-IN" sz="2000" b="1" dirty="0">
                <a:solidFill>
                  <a:schemeClr val="tx1"/>
                </a:solidFill>
                <a:latin typeface="Times New Roman" panose="02020603050405020304" pitchFamily="18" charset="0"/>
                <a:cs typeface="Times New Roman" panose="02020603050405020304" pitchFamily="18" charset="0"/>
              </a:rPr>
              <a:t>22H51A0426 – G. Sravya</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Dept.of</a:t>
            </a:r>
            <a:r>
              <a:rPr lang="en-US" sz="2000" b="1" dirty="0">
                <a:solidFill>
                  <a:schemeClr val="tx1"/>
                </a:solidFill>
                <a:latin typeface="Times New Roman" panose="02020603050405020304" pitchFamily="18" charset="0"/>
                <a:cs typeface="Times New Roman" panose="02020603050405020304" pitchFamily="18" charset="0"/>
              </a:rPr>
              <a:t> ECE</a:t>
            </a:r>
            <a:endParaRPr lang="en-IN" sz="2000" b="1" dirty="0">
              <a:solidFill>
                <a:schemeClr val="tx1"/>
              </a:solidFill>
              <a:latin typeface="Times New Roman" panose="02020603050405020304" pitchFamily="18" charset="0"/>
              <a:cs typeface="Times New Roman" panose="02020603050405020304" pitchFamily="18" charset="0"/>
            </a:endParaRPr>
          </a:p>
        </p:txBody>
      </p:sp>
      <p:pic>
        <p:nvPicPr>
          <p:cNvPr id="6" name="Picture 4" descr="C:\Documents and Settings\user.MPILAB35\Desktop\index.jpg">
            <a:extLst>
              <a:ext uri="{FF2B5EF4-FFF2-40B4-BE49-F238E27FC236}">
                <a16:creationId xmlns:a16="http://schemas.microsoft.com/office/drawing/2014/main" id="{5954A9F0-90B8-5884-B20B-A971C2D08192}"/>
              </a:ext>
            </a:extLst>
          </p:cNvPr>
          <p:cNvPicPr>
            <a:picLocks noChangeAspect="1" noChangeArrowheads="1"/>
          </p:cNvPicPr>
          <p:nvPr/>
        </p:nvPicPr>
        <p:blipFill>
          <a:blip r:embed="rId3"/>
          <a:srcRect b="31395"/>
          <a:stretch>
            <a:fillRect/>
          </a:stretch>
        </p:blipFill>
        <p:spPr bwMode="auto">
          <a:xfrm>
            <a:off x="228600" y="338328"/>
            <a:ext cx="1600200" cy="1338072"/>
          </a:xfrm>
          <a:prstGeom prst="rect">
            <a:avLst/>
          </a:prstGeom>
          <a:noFill/>
          <a:ln>
            <a:noFill/>
          </a:ln>
        </p:spPr>
      </p:pic>
      <p:sp>
        <p:nvSpPr>
          <p:cNvPr id="8" name="TextBox 7">
            <a:extLst>
              <a:ext uri="{FF2B5EF4-FFF2-40B4-BE49-F238E27FC236}">
                <a16:creationId xmlns:a16="http://schemas.microsoft.com/office/drawing/2014/main" id="{69EDA1D4-7164-642C-EAD5-4A1DA83C41C1}"/>
              </a:ext>
            </a:extLst>
          </p:cNvPr>
          <p:cNvSpPr txBox="1"/>
          <p:nvPr/>
        </p:nvSpPr>
        <p:spPr>
          <a:xfrm>
            <a:off x="1575614" y="407001"/>
            <a:ext cx="10714998" cy="584775"/>
          </a:xfrm>
          <a:prstGeom prst="rect">
            <a:avLst/>
          </a:prstGeom>
          <a:noFill/>
        </p:spPr>
        <p:txBody>
          <a:bodyPr wrap="square">
            <a:spAutoFit/>
          </a:bodyPr>
          <a:lstStyle/>
          <a:p>
            <a:r>
              <a:rPr lang="en-US" sz="3200" b="1" dirty="0">
                <a:solidFill>
                  <a:srgbClr val="FF0000"/>
                </a:solidFill>
                <a:latin typeface="Times New Roman" panose="02020603050405020304" pitchFamily="18" charset="0"/>
                <a:cs typeface="Times New Roman" panose="02020603050405020304" pitchFamily="18" charset="0"/>
              </a:rPr>
              <a:t>CMR COLLEGE OF ENGINEERING &amp;TECHNOLOGY</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2730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5AEF8-A0AD-CE05-7AE6-D5F32FE70A32}"/>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Contents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6E7A3B-5444-D246-60A7-06C4E64C6FAC}"/>
              </a:ext>
            </a:extLst>
          </p:cNvPr>
          <p:cNvSpPr>
            <a:spLocks noGrp="1"/>
          </p:cNvSpPr>
          <p:nvPr>
            <p:ph idx="1"/>
          </p:nvPr>
        </p:nvSpPr>
        <p:spPr/>
        <p:txBody>
          <a:bodyPr>
            <a:normAutofit fontScale="92500" lnSpcReduction="20000"/>
          </a:bodyPr>
          <a:lstStyle/>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Introduction</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Objectives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Problem statement</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Literature review</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Proposed system</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Methodology</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Implementation</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Results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Conclusion</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References</a:t>
            </a:r>
          </a:p>
          <a:p>
            <a:endParaRPr lang="en-IN" dirty="0"/>
          </a:p>
        </p:txBody>
      </p:sp>
    </p:spTree>
    <p:extLst>
      <p:ext uri="{BB962C8B-B14F-4D97-AF65-F5344CB8AC3E}">
        <p14:creationId xmlns:p14="http://schemas.microsoft.com/office/powerpoint/2010/main" val="2159816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A6615-B26E-ED06-5846-17D7952A2AAC}"/>
              </a:ext>
            </a:extLst>
          </p:cNvPr>
          <p:cNvSpPr>
            <a:spLocks noGrp="1"/>
          </p:cNvSpPr>
          <p:nvPr>
            <p:ph type="title"/>
          </p:nvPr>
        </p:nvSpPr>
        <p:spPr>
          <a:xfrm>
            <a:off x="657045" y="644339"/>
            <a:ext cx="10515600" cy="1325563"/>
          </a:xfrm>
        </p:spPr>
        <p:txBody>
          <a:bodyPr>
            <a:normAutofit/>
          </a:bodyPr>
          <a:lstStyle/>
          <a:p>
            <a:r>
              <a:rPr lang="en-IN" sz="4000" b="1" dirty="0">
                <a:solidFill>
                  <a:srgbClr val="C00000"/>
                </a:solidFill>
                <a:latin typeface="Times New Roman" panose="02020603050405020304" pitchFamily="18" charset="0"/>
                <a:ea typeface="ADLaM Display" panose="02010000000000000000" pitchFamily="2" charset="0"/>
                <a:cs typeface="Times New Roman" panose="02020603050405020304" pitchFamily="18" charset="0"/>
              </a:rPr>
              <a:t>Introduction</a:t>
            </a:r>
          </a:p>
        </p:txBody>
      </p:sp>
      <p:pic>
        <p:nvPicPr>
          <p:cNvPr id="4" name="Picture 4" descr="C:\Documents and Settings\user.MPILAB35\Desktop\index.jpg">
            <a:extLst>
              <a:ext uri="{FF2B5EF4-FFF2-40B4-BE49-F238E27FC236}">
                <a16:creationId xmlns:a16="http://schemas.microsoft.com/office/drawing/2014/main" id="{97347DA5-92E1-9C5B-6E5B-4B31F35506EF}"/>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
        <p:nvSpPr>
          <p:cNvPr id="3" name="Rectangle 1">
            <a:extLst>
              <a:ext uri="{FF2B5EF4-FFF2-40B4-BE49-F238E27FC236}">
                <a16:creationId xmlns:a16="http://schemas.microsoft.com/office/drawing/2014/main" id="{AD5D7C7E-5AC3-2A26-399D-76101A4103C5}"/>
              </a:ext>
            </a:extLst>
          </p:cNvPr>
          <p:cNvSpPr>
            <a:spLocks noGrp="1" noChangeArrowheads="1"/>
          </p:cNvSpPr>
          <p:nvPr>
            <p:ph idx="1"/>
          </p:nvPr>
        </p:nvSpPr>
        <p:spPr bwMode="auto">
          <a:xfrm>
            <a:off x="657045" y="1982411"/>
            <a:ext cx="1076432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Rapid increase in vehicles leads to parking congestion, fuel waste, and longer searching time in urban areas.</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parking systems using manual tickets or basic sensors cannot efficiently identify vehicles or manage parking spaces.</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solutions usually perform only vehicle detection or license plate recognition separately, lacking a complete integrated system.</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proposes a hybrid cascade-CNN smart parking system that detects vehicles, recognizes license plates, and assigns parking spaces automatically.</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aims to reduce parking search time, improve space utilization, and enable automated access control in multi-level parking environments.</a:t>
            </a:r>
          </a:p>
        </p:txBody>
      </p:sp>
    </p:spTree>
    <p:extLst>
      <p:ext uri="{BB962C8B-B14F-4D97-AF65-F5344CB8AC3E}">
        <p14:creationId xmlns:p14="http://schemas.microsoft.com/office/powerpoint/2010/main" val="518207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6703E-B82F-B592-E1E3-133CA35DB4C0}"/>
              </a:ext>
            </a:extLst>
          </p:cNvPr>
          <p:cNvSpPr>
            <a:spLocks noGrp="1"/>
          </p:cNvSpPr>
          <p:nvPr>
            <p:ph type="title"/>
          </p:nvPr>
        </p:nvSpPr>
        <p:spPr>
          <a:xfrm>
            <a:off x="838200" y="1212617"/>
            <a:ext cx="10515600" cy="1325563"/>
          </a:xfrm>
        </p:spPr>
        <p:txBody>
          <a:bodyPr>
            <a:normAutofit/>
          </a:bodyPr>
          <a:lstStyle/>
          <a:p>
            <a:r>
              <a:rPr lang="en-IN" b="1" dirty="0">
                <a:solidFill>
                  <a:srgbClr val="C00000"/>
                </a:solidFill>
                <a:latin typeface="Times New Roman" panose="02020603050405020304" pitchFamily="18" charset="0"/>
                <a:cs typeface="Times New Roman" panose="02020603050405020304" pitchFamily="18" charset="0"/>
              </a:rPr>
              <a:t>Objectives of the Project</a:t>
            </a:r>
          </a:p>
        </p:txBody>
      </p:sp>
      <p:pic>
        <p:nvPicPr>
          <p:cNvPr id="4" name="Picture 4" descr="C:\Documents and Settings\user.MPILAB35\Desktop\index.jpg">
            <a:extLst>
              <a:ext uri="{FF2B5EF4-FFF2-40B4-BE49-F238E27FC236}">
                <a16:creationId xmlns:a16="http://schemas.microsoft.com/office/drawing/2014/main" id="{67FD17F9-59BA-F5EE-59C4-ACD2A240587D}"/>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
        <p:nvSpPr>
          <p:cNvPr id="3" name="Rectangle 1">
            <a:extLst>
              <a:ext uri="{FF2B5EF4-FFF2-40B4-BE49-F238E27FC236}">
                <a16:creationId xmlns:a16="http://schemas.microsoft.com/office/drawing/2014/main" id="{E2799AE1-438A-7192-853B-341A3DCDDBEE}"/>
              </a:ext>
            </a:extLst>
          </p:cNvPr>
          <p:cNvSpPr>
            <a:spLocks noGrp="1" noChangeArrowheads="1"/>
          </p:cNvSpPr>
          <p:nvPr>
            <p:ph idx="1"/>
          </p:nvPr>
        </p:nvSpPr>
        <p:spPr bwMode="auto">
          <a:xfrm>
            <a:off x="838200" y="2250774"/>
            <a:ext cx="10439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vehicle detection, license plate recognition, and parking slot allocation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performance with high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deep learning models on edge devices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parking efficiency by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reducing search time and improving space utilization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07137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E111-390B-6E6A-7205-3C426FABA3A0}"/>
              </a:ext>
            </a:extLst>
          </p:cNvPr>
          <p:cNvSpPr>
            <a:spLocks noGrp="1"/>
          </p:cNvSpPr>
          <p:nvPr>
            <p:ph type="title"/>
          </p:nvPr>
        </p:nvSpPr>
        <p:spPr>
          <a:xfrm>
            <a:off x="208634" y="-60113"/>
            <a:ext cx="9970851" cy="1325563"/>
          </a:xfrm>
        </p:spPr>
        <p:txBody>
          <a:bodyPr/>
          <a:lstStyle/>
          <a:p>
            <a:r>
              <a:rPr lang="en-IN" b="1" dirty="0">
                <a:solidFill>
                  <a:srgbClr val="C00000"/>
                </a:solidFill>
              </a:rPr>
              <a:t>Literature Review:</a:t>
            </a:r>
          </a:p>
        </p:txBody>
      </p:sp>
      <p:graphicFrame>
        <p:nvGraphicFramePr>
          <p:cNvPr id="15" name="Table 14">
            <a:extLst>
              <a:ext uri="{FF2B5EF4-FFF2-40B4-BE49-F238E27FC236}">
                <a16:creationId xmlns:a16="http://schemas.microsoft.com/office/drawing/2014/main" id="{CCA86ACD-4EBF-6B72-862B-6317FC3F3947}"/>
              </a:ext>
            </a:extLst>
          </p:cNvPr>
          <p:cNvGraphicFramePr>
            <a:graphicFrameLocks noGrp="1"/>
          </p:cNvGraphicFramePr>
          <p:nvPr>
            <p:extLst>
              <p:ext uri="{D42A27DB-BD31-4B8C-83A1-F6EECF244321}">
                <p14:modId xmlns:p14="http://schemas.microsoft.com/office/powerpoint/2010/main" val="286425757"/>
              </p:ext>
            </p:extLst>
          </p:nvPr>
        </p:nvGraphicFramePr>
        <p:xfrm>
          <a:off x="304797" y="966643"/>
          <a:ext cx="11443860" cy="5605815"/>
        </p:xfrm>
        <a:graphic>
          <a:graphicData uri="http://schemas.openxmlformats.org/drawingml/2006/table">
            <a:tbl>
              <a:tblPr>
                <a:tableStyleId>{5C22544A-7EE6-4342-B048-85BDC9FD1C3A}</a:tableStyleId>
              </a:tblPr>
              <a:tblGrid>
                <a:gridCol w="868221">
                  <a:extLst>
                    <a:ext uri="{9D8B030D-6E8A-4147-A177-3AD203B41FA5}">
                      <a16:colId xmlns:a16="http://schemas.microsoft.com/office/drawing/2014/main" val="1385279111"/>
                    </a:ext>
                  </a:extLst>
                </a:gridCol>
                <a:gridCol w="1801091">
                  <a:extLst>
                    <a:ext uri="{9D8B030D-6E8A-4147-A177-3AD203B41FA5}">
                      <a16:colId xmlns:a16="http://schemas.microsoft.com/office/drawing/2014/main" val="3745407998"/>
                    </a:ext>
                  </a:extLst>
                </a:gridCol>
                <a:gridCol w="2272146">
                  <a:extLst>
                    <a:ext uri="{9D8B030D-6E8A-4147-A177-3AD203B41FA5}">
                      <a16:colId xmlns:a16="http://schemas.microsoft.com/office/drawing/2014/main" val="2554427890"/>
                    </a:ext>
                  </a:extLst>
                </a:gridCol>
                <a:gridCol w="2050472">
                  <a:extLst>
                    <a:ext uri="{9D8B030D-6E8A-4147-A177-3AD203B41FA5}">
                      <a16:colId xmlns:a16="http://schemas.microsoft.com/office/drawing/2014/main" val="737145520"/>
                    </a:ext>
                  </a:extLst>
                </a:gridCol>
                <a:gridCol w="1708728">
                  <a:extLst>
                    <a:ext uri="{9D8B030D-6E8A-4147-A177-3AD203B41FA5}">
                      <a16:colId xmlns:a16="http://schemas.microsoft.com/office/drawing/2014/main" val="1634398000"/>
                    </a:ext>
                  </a:extLst>
                </a:gridCol>
                <a:gridCol w="2743202">
                  <a:extLst>
                    <a:ext uri="{9D8B030D-6E8A-4147-A177-3AD203B41FA5}">
                      <a16:colId xmlns:a16="http://schemas.microsoft.com/office/drawing/2014/main" val="3399702882"/>
                    </a:ext>
                  </a:extLst>
                </a:gridCol>
              </a:tblGrid>
              <a:tr h="713643">
                <a:tc>
                  <a:txBody>
                    <a:bodyPr/>
                    <a:lstStyle/>
                    <a:p>
                      <a:pPr algn="ctr">
                        <a:buNone/>
                      </a:pPr>
                      <a:r>
                        <a:rPr lang="en-IN" sz="1400" b="1" dirty="0" err="1">
                          <a:solidFill>
                            <a:schemeClr val="bg1"/>
                          </a:solidFill>
                        </a:rPr>
                        <a:t>S.No</a:t>
                      </a:r>
                      <a:endParaRPr lang="en-IN" sz="1400" b="1" dirty="0">
                        <a:solidFill>
                          <a:schemeClr val="bg1"/>
                        </a:solidFill>
                      </a:endParaRPr>
                    </a:p>
                  </a:txBody>
                  <a:tcPr marL="27540" marR="27540" marT="13770" marB="13770" anchor="ctr">
                    <a:solidFill>
                      <a:schemeClr val="accent1"/>
                    </a:solidFill>
                  </a:tcPr>
                </a:tc>
                <a:tc>
                  <a:txBody>
                    <a:bodyPr/>
                    <a:lstStyle/>
                    <a:p>
                      <a:pPr algn="ctr">
                        <a:buNone/>
                      </a:pPr>
                      <a:r>
                        <a:rPr lang="en-IN" sz="1400" b="1" dirty="0">
                          <a:solidFill>
                            <a:schemeClr val="bg1"/>
                          </a:solidFill>
                        </a:rPr>
                        <a:t>Authors &amp; Year</a:t>
                      </a:r>
                    </a:p>
                  </a:txBody>
                  <a:tcPr marL="27540" marR="27540" marT="13770" marB="13770" anchor="ctr">
                    <a:solidFill>
                      <a:schemeClr val="accent1"/>
                    </a:solidFill>
                  </a:tcPr>
                </a:tc>
                <a:tc>
                  <a:txBody>
                    <a:bodyPr/>
                    <a:lstStyle/>
                    <a:p>
                      <a:pPr algn="ctr">
                        <a:buNone/>
                      </a:pPr>
                      <a:r>
                        <a:rPr lang="en-IN" sz="1400" b="1" dirty="0">
                          <a:solidFill>
                            <a:schemeClr val="bg1"/>
                          </a:solidFill>
                        </a:rPr>
                        <a:t>Title of the Paper</a:t>
                      </a:r>
                    </a:p>
                  </a:txBody>
                  <a:tcPr marL="27540" marR="27540" marT="13770" marB="13770" anchor="ctr">
                    <a:solidFill>
                      <a:schemeClr val="accent1"/>
                    </a:solidFill>
                  </a:tcPr>
                </a:tc>
                <a:tc>
                  <a:txBody>
                    <a:bodyPr/>
                    <a:lstStyle/>
                    <a:p>
                      <a:pPr algn="ctr">
                        <a:buNone/>
                      </a:pPr>
                      <a:r>
                        <a:rPr lang="en-IN" sz="1400" b="1" dirty="0">
                          <a:solidFill>
                            <a:schemeClr val="bg1"/>
                          </a:solidFill>
                        </a:rPr>
                        <a:t>Name of the Journal</a:t>
                      </a:r>
                    </a:p>
                  </a:txBody>
                  <a:tcPr marL="27540" marR="27540" marT="13770" marB="13770" anchor="ctr">
                    <a:solidFill>
                      <a:schemeClr val="accent1"/>
                    </a:solidFill>
                  </a:tcPr>
                </a:tc>
                <a:tc>
                  <a:txBody>
                    <a:bodyPr/>
                    <a:lstStyle/>
                    <a:p>
                      <a:pPr algn="ctr">
                        <a:buNone/>
                      </a:pPr>
                      <a:r>
                        <a:rPr lang="en-IN" sz="1400" b="1" dirty="0">
                          <a:solidFill>
                            <a:schemeClr val="bg1"/>
                          </a:solidFill>
                        </a:rPr>
                        <a:t>Techniques / Methods Used</a:t>
                      </a:r>
                    </a:p>
                  </a:txBody>
                  <a:tcPr marL="27540" marR="27540" marT="13770" marB="13770" anchor="ctr">
                    <a:solidFill>
                      <a:schemeClr val="accent1"/>
                    </a:solidFill>
                  </a:tcPr>
                </a:tc>
                <a:tc>
                  <a:txBody>
                    <a:bodyPr/>
                    <a:lstStyle/>
                    <a:p>
                      <a:pPr algn="ctr">
                        <a:buNone/>
                      </a:pPr>
                      <a:r>
                        <a:rPr lang="en-IN" sz="1400" b="1" dirty="0">
                          <a:solidFill>
                            <a:schemeClr val="bg1"/>
                          </a:solidFill>
                        </a:rPr>
                        <a:t>Major Findings (Pros &amp; Cons)</a:t>
                      </a:r>
                    </a:p>
                  </a:txBody>
                  <a:tcPr marL="27540" marR="27540" marT="13770" marB="13770" anchor="ctr">
                    <a:solidFill>
                      <a:schemeClr val="accent1"/>
                    </a:solidFill>
                  </a:tcPr>
                </a:tc>
                <a:extLst>
                  <a:ext uri="{0D108BD9-81ED-4DB2-BD59-A6C34878D82A}">
                    <a16:rowId xmlns:a16="http://schemas.microsoft.com/office/drawing/2014/main" val="1898579311"/>
                  </a:ext>
                </a:extLst>
              </a:tr>
              <a:tr h="1136805">
                <a:tc>
                  <a:txBody>
                    <a:bodyPr/>
                    <a:lstStyle/>
                    <a:p>
                      <a:pPr algn="ctr">
                        <a:buNone/>
                      </a:pPr>
                      <a:r>
                        <a:rPr lang="en-IN" sz="1400" b="1" dirty="0"/>
                        <a:t>1</a:t>
                      </a:r>
                    </a:p>
                  </a:txBody>
                  <a:tcPr marL="27540" marR="27540" marT="13770" marB="13770" anchor="ctr"/>
                </a:tc>
                <a:tc>
                  <a:txBody>
                    <a:bodyPr/>
                    <a:lstStyle/>
                    <a:p>
                      <a:pPr algn="ctr">
                        <a:buNone/>
                      </a:pPr>
                      <a:r>
                        <a:rPr lang="en-IN" sz="1400" b="1"/>
                        <a:t>Rahman &amp; Ahmed (2023)</a:t>
                      </a:r>
                    </a:p>
                  </a:txBody>
                  <a:tcPr marL="27540" marR="27540" marT="13770" marB="13770" anchor="ctr"/>
                </a:tc>
                <a:tc>
                  <a:txBody>
                    <a:bodyPr/>
                    <a:lstStyle/>
                    <a:p>
                      <a:pPr algn="ctr">
                        <a:buNone/>
                      </a:pPr>
                      <a:r>
                        <a:rPr lang="en-US" sz="1400" b="1"/>
                        <a:t>IoT-enabled wireless sensor networks for parking occupancy monitoring</a:t>
                      </a:r>
                    </a:p>
                  </a:txBody>
                  <a:tcPr marL="27540" marR="27540" marT="13770" marB="13770" anchor="ctr"/>
                </a:tc>
                <a:tc>
                  <a:txBody>
                    <a:bodyPr/>
                    <a:lstStyle/>
                    <a:p>
                      <a:pPr algn="ctr">
                        <a:buNone/>
                      </a:pPr>
                      <a:r>
                        <a:rPr lang="en-IN" sz="1400" b="1" dirty="0"/>
                        <a:t>IEEE Sensors Journal</a:t>
                      </a:r>
                    </a:p>
                  </a:txBody>
                  <a:tcPr marL="27540" marR="27540" marT="13770" marB="13770" anchor="ctr"/>
                </a:tc>
                <a:tc>
                  <a:txBody>
                    <a:bodyPr/>
                    <a:lstStyle/>
                    <a:p>
                      <a:pPr algn="ctr">
                        <a:buNone/>
                      </a:pPr>
                      <a:r>
                        <a:rPr lang="en-US" sz="1400" b="1" dirty="0"/>
                        <a:t>IoT sensors, LoRaWAN, distributed occupancy monitoring</a:t>
                      </a:r>
                    </a:p>
                  </a:txBody>
                  <a:tcPr marL="27540" marR="27540" marT="13770" marB="13770" anchor="ctr"/>
                </a:tc>
                <a:tc>
                  <a:txBody>
                    <a:bodyPr/>
                    <a:lstStyle/>
                    <a:p>
                      <a:pPr>
                        <a:buNone/>
                      </a:pPr>
                      <a:r>
                        <a:rPr lang="en-US" sz="1400" b="1" dirty="0"/>
                        <a:t>Pro: </a:t>
                      </a:r>
                      <a:r>
                        <a:rPr lang="en-US" sz="1400" b="0" dirty="0"/>
                        <a:t>Energy-efficient large-scale monitoring with stable accuracy (~94.7%). </a:t>
                      </a:r>
                    </a:p>
                    <a:p>
                      <a:pPr>
                        <a:buNone/>
                      </a:pPr>
                      <a:r>
                        <a:rPr lang="en-US" sz="1400" b="1" dirty="0"/>
                        <a:t>Con: </a:t>
                      </a:r>
                      <a:r>
                        <a:rPr lang="en-US" sz="1400" b="0" dirty="0"/>
                        <a:t>Only detects presence; cannot identify vehicles or support intelligent decisions.</a:t>
                      </a:r>
                    </a:p>
                  </a:txBody>
                  <a:tcPr marL="27540" marR="27540" marT="13770" marB="13770" anchor="ctr"/>
                </a:tc>
                <a:extLst>
                  <a:ext uri="{0D108BD9-81ED-4DB2-BD59-A6C34878D82A}">
                    <a16:rowId xmlns:a16="http://schemas.microsoft.com/office/drawing/2014/main" val="78274278"/>
                  </a:ext>
                </a:extLst>
              </a:tr>
              <a:tr h="1138386">
                <a:tc>
                  <a:txBody>
                    <a:bodyPr/>
                    <a:lstStyle/>
                    <a:p>
                      <a:pPr algn="ctr">
                        <a:buNone/>
                      </a:pPr>
                      <a:r>
                        <a:rPr lang="en-IN" sz="1400" b="1"/>
                        <a:t>2</a:t>
                      </a:r>
                    </a:p>
                  </a:txBody>
                  <a:tcPr marL="27540" marR="27540" marT="13770" marB="13770" anchor="ctr"/>
                </a:tc>
                <a:tc>
                  <a:txBody>
                    <a:bodyPr/>
                    <a:lstStyle/>
                    <a:p>
                      <a:pPr algn="ctr">
                        <a:buNone/>
                      </a:pPr>
                      <a:r>
                        <a:rPr lang="en-IN" sz="1400" b="1"/>
                        <a:t>Fernandez et al. (2024)</a:t>
                      </a:r>
                    </a:p>
                  </a:txBody>
                  <a:tcPr marL="27540" marR="27540" marT="13770" marB="13770" anchor="ctr"/>
                </a:tc>
                <a:tc>
                  <a:txBody>
                    <a:bodyPr/>
                    <a:lstStyle/>
                    <a:p>
                      <a:pPr algn="ctr">
                        <a:buNone/>
                      </a:pPr>
                      <a:r>
                        <a:rPr lang="en-US" sz="1400" b="1"/>
                        <a:t>Edge-deployable parking occupancy monitoring using lightweight neural networks</a:t>
                      </a:r>
                    </a:p>
                  </a:txBody>
                  <a:tcPr marL="27540" marR="27540" marT="13770" marB="13770" anchor="ctr"/>
                </a:tc>
                <a:tc>
                  <a:txBody>
                    <a:bodyPr/>
                    <a:lstStyle/>
                    <a:p>
                      <a:pPr algn="ctr">
                        <a:buNone/>
                      </a:pPr>
                      <a:r>
                        <a:rPr lang="en-US" sz="1400" b="1"/>
                        <a:t>IEEE Internet of Things Journal</a:t>
                      </a:r>
                    </a:p>
                  </a:txBody>
                  <a:tcPr marL="27540" marR="27540" marT="13770" marB="13770" anchor="ctr"/>
                </a:tc>
                <a:tc>
                  <a:txBody>
                    <a:bodyPr/>
                    <a:lstStyle/>
                    <a:p>
                      <a:pPr algn="ctr">
                        <a:buNone/>
                      </a:pPr>
                      <a:r>
                        <a:rPr lang="en-US" sz="1400" b="1"/>
                        <a:t>MobileNetV3, edge computing, vision-based detection</a:t>
                      </a:r>
                    </a:p>
                  </a:txBody>
                  <a:tcPr marL="27540" marR="27540" marT="13770" marB="13770" anchor="ctr"/>
                </a:tc>
                <a:tc>
                  <a:txBody>
                    <a:bodyPr/>
                    <a:lstStyle/>
                    <a:p>
                      <a:pPr>
                        <a:buNone/>
                      </a:pPr>
                      <a:r>
                        <a:rPr lang="en-US" sz="1400" b="1" dirty="0"/>
                        <a:t>Pro: </a:t>
                      </a:r>
                      <a:r>
                        <a:rPr lang="en-US" sz="1400" b="0" dirty="0"/>
                        <a:t>Low-latency (~34ms) and robust under varying lighting conditions. </a:t>
                      </a:r>
                      <a:r>
                        <a:rPr lang="en-US" sz="1400" b="1" dirty="0"/>
                        <a:t>Con: </a:t>
                      </a:r>
                      <a:r>
                        <a:rPr lang="en-US" sz="1400" b="0" dirty="0"/>
                        <a:t>Performance depends on camera placement; limited semantic understanding.</a:t>
                      </a:r>
                    </a:p>
                  </a:txBody>
                  <a:tcPr marL="27540" marR="27540" marT="13770" marB="13770" anchor="ctr"/>
                </a:tc>
                <a:extLst>
                  <a:ext uri="{0D108BD9-81ED-4DB2-BD59-A6C34878D82A}">
                    <a16:rowId xmlns:a16="http://schemas.microsoft.com/office/drawing/2014/main" val="1533737430"/>
                  </a:ext>
                </a:extLst>
              </a:tr>
              <a:tr h="1161468">
                <a:tc>
                  <a:txBody>
                    <a:bodyPr/>
                    <a:lstStyle/>
                    <a:p>
                      <a:pPr algn="ctr">
                        <a:buNone/>
                      </a:pPr>
                      <a:r>
                        <a:rPr lang="en-IN" sz="1400" b="1"/>
                        <a:t>3</a:t>
                      </a:r>
                    </a:p>
                  </a:txBody>
                  <a:tcPr marL="27540" marR="27540" marT="13770" marB="13770" anchor="ctr"/>
                </a:tc>
                <a:tc>
                  <a:txBody>
                    <a:bodyPr/>
                    <a:lstStyle/>
                    <a:p>
                      <a:pPr algn="ctr">
                        <a:buNone/>
                      </a:pPr>
                      <a:r>
                        <a:rPr lang="en-IN" sz="1400" b="1"/>
                        <a:t>Nguyen &amp; Tran (2024)</a:t>
                      </a:r>
                    </a:p>
                  </a:txBody>
                  <a:tcPr marL="27540" marR="27540" marT="13770" marB="13770" anchor="ctr"/>
                </a:tc>
                <a:tc>
                  <a:txBody>
                    <a:bodyPr/>
                    <a:lstStyle/>
                    <a:p>
                      <a:pPr algn="ctr">
                        <a:buNone/>
                      </a:pPr>
                      <a:r>
                        <a:rPr lang="en-US" sz="1400" b="1" dirty="0"/>
                        <a:t>YOLOv8 optimization for parking-specific vehicle detection</a:t>
                      </a:r>
                    </a:p>
                  </a:txBody>
                  <a:tcPr marL="27540" marR="27540" marT="13770" marB="13770" anchor="ctr"/>
                </a:tc>
                <a:tc>
                  <a:txBody>
                    <a:bodyPr/>
                    <a:lstStyle/>
                    <a:p>
                      <a:pPr algn="ctr">
                        <a:buNone/>
                      </a:pPr>
                      <a:r>
                        <a:rPr lang="en-IN" sz="1400" b="1"/>
                        <a:t>Neurocomputing</a:t>
                      </a:r>
                    </a:p>
                  </a:txBody>
                  <a:tcPr marL="27540" marR="27540" marT="13770" marB="13770" anchor="ctr"/>
                </a:tc>
                <a:tc>
                  <a:txBody>
                    <a:bodyPr/>
                    <a:lstStyle/>
                    <a:p>
                      <a:pPr algn="ctr">
                        <a:buNone/>
                      </a:pPr>
                      <a:r>
                        <a:rPr lang="en-IN" sz="1400" b="1"/>
                        <a:t>YOLOv8, multi-scale feature fusion</a:t>
                      </a:r>
                    </a:p>
                  </a:txBody>
                  <a:tcPr marL="27540" marR="27540" marT="13770" marB="13770" anchor="ctr"/>
                </a:tc>
                <a:tc>
                  <a:txBody>
                    <a:bodyPr/>
                    <a:lstStyle/>
                    <a:p>
                      <a:pPr>
                        <a:buNone/>
                      </a:pPr>
                      <a:r>
                        <a:rPr lang="en-US" sz="1400" b="1" dirty="0"/>
                        <a:t>Pro: </a:t>
                      </a:r>
                      <a:r>
                        <a:rPr lang="en-US" sz="1400" b="0" dirty="0"/>
                        <a:t>High detection accuracy (~97.9%) with strong occlusion handling. </a:t>
                      </a:r>
                    </a:p>
                    <a:p>
                      <a:pPr>
                        <a:buNone/>
                      </a:pPr>
                      <a:r>
                        <a:rPr lang="en-US" sz="1400" b="1" dirty="0"/>
                        <a:t>Con: </a:t>
                      </a:r>
                      <a:r>
                        <a:rPr lang="en-US" sz="1400" b="0" dirty="0"/>
                        <a:t>Performance degrades under extreme real-world conditions like weather/lighting.</a:t>
                      </a:r>
                    </a:p>
                  </a:txBody>
                  <a:tcPr marL="27540" marR="27540" marT="13770" marB="13770" anchor="ctr"/>
                </a:tc>
                <a:extLst>
                  <a:ext uri="{0D108BD9-81ED-4DB2-BD59-A6C34878D82A}">
                    <a16:rowId xmlns:a16="http://schemas.microsoft.com/office/drawing/2014/main" val="1823470011"/>
                  </a:ext>
                </a:extLst>
              </a:tr>
              <a:tr h="1138386">
                <a:tc>
                  <a:txBody>
                    <a:bodyPr/>
                    <a:lstStyle/>
                    <a:p>
                      <a:pPr algn="ctr">
                        <a:buNone/>
                      </a:pPr>
                      <a:r>
                        <a:rPr lang="en-IN" sz="1400" b="1"/>
                        <a:t>4</a:t>
                      </a:r>
                    </a:p>
                  </a:txBody>
                  <a:tcPr marL="27540" marR="27540" marT="13770" marB="13770" anchor="ctr"/>
                </a:tc>
                <a:tc>
                  <a:txBody>
                    <a:bodyPr/>
                    <a:lstStyle/>
                    <a:p>
                      <a:pPr algn="ctr">
                        <a:buNone/>
                      </a:pPr>
                      <a:r>
                        <a:rPr lang="en-IN" sz="1400" b="1"/>
                        <a:t>Silva &amp; Costa (2024)</a:t>
                      </a:r>
                    </a:p>
                  </a:txBody>
                  <a:tcPr marL="27540" marR="27540" marT="13770" marB="13770" anchor="ctr"/>
                </a:tc>
                <a:tc>
                  <a:txBody>
                    <a:bodyPr/>
                    <a:lstStyle/>
                    <a:p>
                      <a:pPr algn="ctr">
                        <a:buNone/>
                      </a:pPr>
                      <a:r>
                        <a:rPr lang="en-US" sz="1400" b="1" dirty="0"/>
                        <a:t>Spatial transformer networks for license plate recognition</a:t>
                      </a:r>
                    </a:p>
                  </a:txBody>
                  <a:tcPr marL="27540" marR="27540" marT="13770" marB="13770" anchor="ctr"/>
                </a:tc>
                <a:tc>
                  <a:txBody>
                    <a:bodyPr/>
                    <a:lstStyle/>
                    <a:p>
                      <a:pPr algn="ctr">
                        <a:buNone/>
                      </a:pPr>
                      <a:r>
                        <a:rPr lang="en-IN" sz="1400" b="1"/>
                        <a:t>Neural Networks</a:t>
                      </a:r>
                    </a:p>
                  </a:txBody>
                  <a:tcPr marL="27540" marR="27540" marT="13770" marB="13770" anchor="ctr"/>
                </a:tc>
                <a:tc>
                  <a:txBody>
                    <a:bodyPr/>
                    <a:lstStyle/>
                    <a:p>
                      <a:pPr algn="ctr">
                        <a:buNone/>
                      </a:pPr>
                      <a:r>
                        <a:rPr lang="en-US" sz="1400" b="1" dirty="0"/>
                        <a:t>Spatial Transformer Networks, attention-based OCR</a:t>
                      </a:r>
                    </a:p>
                  </a:txBody>
                  <a:tcPr marL="27540" marR="27540" marT="13770" marB="13770" anchor="ctr"/>
                </a:tc>
                <a:tc>
                  <a:txBody>
                    <a:bodyPr/>
                    <a:lstStyle/>
                    <a:p>
                      <a:pPr>
                        <a:buNone/>
                      </a:pPr>
                      <a:r>
                        <a:rPr lang="en-US" sz="1400" b="1" dirty="0"/>
                        <a:t>Pro: </a:t>
                      </a:r>
                      <a:r>
                        <a:rPr lang="en-US" sz="1400" b="0" dirty="0"/>
                        <a:t>Corrects geometric distortions and improves recognition reliability. </a:t>
                      </a:r>
                      <a:r>
                        <a:rPr lang="en-US" sz="1400" b="1" dirty="0"/>
                        <a:t>Con: </a:t>
                      </a:r>
                      <a:r>
                        <a:rPr lang="en-US" sz="1400" b="0" dirty="0"/>
                        <a:t>Adds computational overhead and struggles with severe occlusion.</a:t>
                      </a:r>
                    </a:p>
                  </a:txBody>
                  <a:tcPr marL="27540" marR="27540" marT="13770" marB="13770" anchor="ctr"/>
                </a:tc>
                <a:extLst>
                  <a:ext uri="{0D108BD9-81ED-4DB2-BD59-A6C34878D82A}">
                    <a16:rowId xmlns:a16="http://schemas.microsoft.com/office/drawing/2014/main" val="2054225921"/>
                  </a:ext>
                </a:extLst>
              </a:tr>
            </a:tbl>
          </a:graphicData>
        </a:graphic>
      </p:graphicFrame>
      <p:pic>
        <p:nvPicPr>
          <p:cNvPr id="3" name="Picture 4" descr="C:\Documents and Settings\user.MPILAB35\Desktop\index.jpg">
            <a:extLst>
              <a:ext uri="{FF2B5EF4-FFF2-40B4-BE49-F238E27FC236}">
                <a16:creationId xmlns:a16="http://schemas.microsoft.com/office/drawing/2014/main" id="{FEA4963C-7718-6F9F-7C93-16CE0357B440}"/>
              </a:ext>
            </a:extLst>
          </p:cNvPr>
          <p:cNvPicPr>
            <a:picLocks noChangeAspect="1" noChangeArrowheads="1"/>
          </p:cNvPicPr>
          <p:nvPr/>
        </p:nvPicPr>
        <p:blipFill>
          <a:blip r:embed="rId3"/>
          <a:srcRect b="31395"/>
          <a:stretch>
            <a:fillRect/>
          </a:stretch>
        </p:blipFill>
        <p:spPr bwMode="auto">
          <a:xfrm>
            <a:off x="11027646" y="99217"/>
            <a:ext cx="863499" cy="722050"/>
          </a:xfrm>
          <a:prstGeom prst="rect">
            <a:avLst/>
          </a:prstGeom>
          <a:noFill/>
          <a:ln>
            <a:noFill/>
          </a:ln>
        </p:spPr>
      </p:pic>
    </p:spTree>
    <p:extLst>
      <p:ext uri="{BB962C8B-B14F-4D97-AF65-F5344CB8AC3E}">
        <p14:creationId xmlns:p14="http://schemas.microsoft.com/office/powerpoint/2010/main" val="253699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97A474E-DA5C-315E-9D7E-F3C7F9DE1B7A}"/>
              </a:ext>
            </a:extLst>
          </p:cNvPr>
          <p:cNvGraphicFramePr>
            <a:graphicFrameLocks noGrp="1"/>
          </p:cNvGraphicFramePr>
          <p:nvPr>
            <p:extLst>
              <p:ext uri="{D42A27DB-BD31-4B8C-83A1-F6EECF244321}">
                <p14:modId xmlns:p14="http://schemas.microsoft.com/office/powerpoint/2010/main" val="1179013966"/>
              </p:ext>
            </p:extLst>
          </p:nvPr>
        </p:nvGraphicFramePr>
        <p:xfrm>
          <a:off x="270163" y="388985"/>
          <a:ext cx="11533909" cy="6196541"/>
        </p:xfrm>
        <a:graphic>
          <a:graphicData uri="http://schemas.openxmlformats.org/drawingml/2006/table">
            <a:tbl>
              <a:tblPr>
                <a:tableStyleId>{5C22544A-7EE6-4342-B048-85BDC9FD1C3A}</a:tableStyleId>
              </a:tblPr>
              <a:tblGrid>
                <a:gridCol w="838911">
                  <a:extLst>
                    <a:ext uri="{9D8B030D-6E8A-4147-A177-3AD203B41FA5}">
                      <a16:colId xmlns:a16="http://schemas.microsoft.com/office/drawing/2014/main" val="45837155"/>
                    </a:ext>
                  </a:extLst>
                </a:gridCol>
                <a:gridCol w="1967703">
                  <a:extLst>
                    <a:ext uri="{9D8B030D-6E8A-4147-A177-3AD203B41FA5}">
                      <a16:colId xmlns:a16="http://schemas.microsoft.com/office/drawing/2014/main" val="2911519562"/>
                    </a:ext>
                  </a:extLst>
                </a:gridCol>
                <a:gridCol w="2090686">
                  <a:extLst>
                    <a:ext uri="{9D8B030D-6E8A-4147-A177-3AD203B41FA5}">
                      <a16:colId xmlns:a16="http://schemas.microsoft.com/office/drawing/2014/main" val="2316556793"/>
                    </a:ext>
                  </a:extLst>
                </a:gridCol>
                <a:gridCol w="2020410">
                  <a:extLst>
                    <a:ext uri="{9D8B030D-6E8A-4147-A177-3AD203B41FA5}">
                      <a16:colId xmlns:a16="http://schemas.microsoft.com/office/drawing/2014/main" val="3032005193"/>
                    </a:ext>
                  </a:extLst>
                </a:gridCol>
                <a:gridCol w="1748093">
                  <a:extLst>
                    <a:ext uri="{9D8B030D-6E8A-4147-A177-3AD203B41FA5}">
                      <a16:colId xmlns:a16="http://schemas.microsoft.com/office/drawing/2014/main" val="768311236"/>
                    </a:ext>
                  </a:extLst>
                </a:gridCol>
                <a:gridCol w="2868106">
                  <a:extLst>
                    <a:ext uri="{9D8B030D-6E8A-4147-A177-3AD203B41FA5}">
                      <a16:colId xmlns:a16="http://schemas.microsoft.com/office/drawing/2014/main" val="411972919"/>
                    </a:ext>
                  </a:extLst>
                </a:gridCol>
              </a:tblGrid>
              <a:tr h="562256">
                <a:tc>
                  <a:txBody>
                    <a:bodyPr/>
                    <a:lstStyle/>
                    <a:p>
                      <a:pPr algn="ctr">
                        <a:buNone/>
                      </a:pPr>
                      <a:r>
                        <a:rPr lang="en-IN" sz="1400" b="1" dirty="0" err="1">
                          <a:solidFill>
                            <a:schemeClr val="bg1"/>
                          </a:solidFill>
                        </a:rPr>
                        <a:t>S.No</a:t>
                      </a:r>
                      <a:endParaRPr lang="en-IN" sz="1400" b="1" dirty="0">
                        <a:solidFill>
                          <a:schemeClr val="bg1"/>
                        </a:solidFill>
                      </a:endParaRPr>
                    </a:p>
                  </a:txBody>
                  <a:tcPr marL="27540" marR="27540" marT="13770" marB="13770" anchor="ctr">
                    <a:solidFill>
                      <a:schemeClr val="accent1"/>
                    </a:solidFill>
                  </a:tcPr>
                </a:tc>
                <a:tc>
                  <a:txBody>
                    <a:bodyPr/>
                    <a:lstStyle/>
                    <a:p>
                      <a:pPr algn="ctr">
                        <a:buNone/>
                      </a:pPr>
                      <a:r>
                        <a:rPr lang="en-IN" sz="1400" b="1" dirty="0">
                          <a:solidFill>
                            <a:schemeClr val="bg1"/>
                          </a:solidFill>
                        </a:rPr>
                        <a:t>Authors &amp; Year</a:t>
                      </a:r>
                    </a:p>
                  </a:txBody>
                  <a:tcPr marL="27540" marR="27540" marT="13770" marB="13770" anchor="ctr">
                    <a:solidFill>
                      <a:schemeClr val="accent1"/>
                    </a:solidFill>
                  </a:tcPr>
                </a:tc>
                <a:tc>
                  <a:txBody>
                    <a:bodyPr/>
                    <a:lstStyle/>
                    <a:p>
                      <a:pPr algn="ctr">
                        <a:buNone/>
                      </a:pPr>
                      <a:r>
                        <a:rPr lang="en-IN" sz="1400" b="1" dirty="0">
                          <a:solidFill>
                            <a:schemeClr val="bg1"/>
                          </a:solidFill>
                        </a:rPr>
                        <a:t>Title of the Paper</a:t>
                      </a:r>
                    </a:p>
                  </a:txBody>
                  <a:tcPr marL="27540" marR="27540" marT="13770" marB="13770" anchor="ctr">
                    <a:solidFill>
                      <a:schemeClr val="accent1"/>
                    </a:solidFill>
                  </a:tcPr>
                </a:tc>
                <a:tc>
                  <a:txBody>
                    <a:bodyPr/>
                    <a:lstStyle/>
                    <a:p>
                      <a:pPr algn="ctr">
                        <a:buNone/>
                      </a:pPr>
                      <a:r>
                        <a:rPr lang="en-IN" sz="1400" b="1" dirty="0">
                          <a:solidFill>
                            <a:schemeClr val="bg1"/>
                          </a:solidFill>
                        </a:rPr>
                        <a:t>Name of the Journal</a:t>
                      </a:r>
                    </a:p>
                  </a:txBody>
                  <a:tcPr marL="27540" marR="27540" marT="13770" marB="13770" anchor="ctr">
                    <a:solidFill>
                      <a:schemeClr val="accent1"/>
                    </a:solidFill>
                  </a:tcPr>
                </a:tc>
                <a:tc>
                  <a:txBody>
                    <a:bodyPr/>
                    <a:lstStyle/>
                    <a:p>
                      <a:pPr algn="ctr">
                        <a:buNone/>
                      </a:pPr>
                      <a:r>
                        <a:rPr lang="en-IN" sz="1400" b="1" dirty="0">
                          <a:solidFill>
                            <a:schemeClr val="bg1"/>
                          </a:solidFill>
                        </a:rPr>
                        <a:t>Techniques / Methods Used</a:t>
                      </a:r>
                    </a:p>
                  </a:txBody>
                  <a:tcPr marL="27540" marR="27540" marT="13770" marB="13770" anchor="ctr">
                    <a:solidFill>
                      <a:schemeClr val="accent1"/>
                    </a:solidFill>
                  </a:tcPr>
                </a:tc>
                <a:tc>
                  <a:txBody>
                    <a:bodyPr/>
                    <a:lstStyle/>
                    <a:p>
                      <a:pPr algn="ctr">
                        <a:buNone/>
                      </a:pPr>
                      <a:r>
                        <a:rPr lang="en-IN" sz="1400" b="1" dirty="0">
                          <a:solidFill>
                            <a:schemeClr val="bg1"/>
                          </a:solidFill>
                        </a:rPr>
                        <a:t>Major Findings (Pros &amp; Cons)</a:t>
                      </a:r>
                    </a:p>
                  </a:txBody>
                  <a:tcPr marL="27540" marR="27540" marT="13770" marB="13770" anchor="ctr">
                    <a:solidFill>
                      <a:schemeClr val="accent1"/>
                    </a:solidFill>
                  </a:tcPr>
                </a:tc>
                <a:extLst>
                  <a:ext uri="{0D108BD9-81ED-4DB2-BD59-A6C34878D82A}">
                    <a16:rowId xmlns:a16="http://schemas.microsoft.com/office/drawing/2014/main" val="3841799081"/>
                  </a:ext>
                </a:extLst>
              </a:tr>
              <a:tr h="1368478">
                <a:tc>
                  <a:txBody>
                    <a:bodyPr/>
                    <a:lstStyle/>
                    <a:p>
                      <a:pPr algn="ctr">
                        <a:buNone/>
                      </a:pPr>
                      <a:r>
                        <a:rPr lang="en-IN" sz="1400" b="1" dirty="0"/>
                        <a:t>5</a:t>
                      </a:r>
                    </a:p>
                  </a:txBody>
                  <a:tcPr marL="27540" marR="27540" marT="13770" marB="13770" anchor="ctr"/>
                </a:tc>
                <a:tc>
                  <a:txBody>
                    <a:bodyPr/>
                    <a:lstStyle/>
                    <a:p>
                      <a:pPr algn="ctr">
                        <a:buNone/>
                      </a:pPr>
                      <a:r>
                        <a:rPr lang="en-IN" sz="1400" b="1" dirty="0"/>
                        <a:t>Zhou &amp; Wang (2024)</a:t>
                      </a:r>
                    </a:p>
                  </a:txBody>
                  <a:tcPr marL="27540" marR="27540" marT="13770" marB="13770" anchor="ctr"/>
                </a:tc>
                <a:tc>
                  <a:txBody>
                    <a:bodyPr/>
                    <a:lstStyle/>
                    <a:p>
                      <a:pPr algn="ctr">
                        <a:buNone/>
                      </a:pPr>
                      <a:r>
                        <a:rPr lang="en-IN" sz="1400" b="1"/>
                        <a:t>Transformer-based sequence modeling for license plate recognition</a:t>
                      </a:r>
                    </a:p>
                  </a:txBody>
                  <a:tcPr marL="27540" marR="27540" marT="13770" marB="13770" anchor="ctr"/>
                </a:tc>
                <a:tc>
                  <a:txBody>
                    <a:bodyPr/>
                    <a:lstStyle/>
                    <a:p>
                      <a:pPr algn="ctr">
                        <a:buNone/>
                      </a:pPr>
                      <a:r>
                        <a:rPr lang="en-IN" sz="1400" b="1" dirty="0"/>
                        <a:t>Computer Vision and Image Understanding</a:t>
                      </a:r>
                    </a:p>
                  </a:txBody>
                  <a:tcPr marL="27540" marR="27540" marT="13770" marB="13770" anchor="ctr"/>
                </a:tc>
                <a:tc>
                  <a:txBody>
                    <a:bodyPr/>
                    <a:lstStyle/>
                    <a:p>
                      <a:pPr algn="ctr">
                        <a:buNone/>
                      </a:pPr>
                      <a:r>
                        <a:rPr lang="en-IN" sz="1400" b="1" dirty="0"/>
                        <a:t>Transformer-based OCR, sequence </a:t>
                      </a:r>
                      <a:r>
                        <a:rPr lang="en-IN" sz="1400" b="1" dirty="0" err="1"/>
                        <a:t>modeling</a:t>
                      </a:r>
                      <a:endParaRPr lang="en-IN" sz="1400" b="1" dirty="0"/>
                    </a:p>
                  </a:txBody>
                  <a:tcPr marL="27540" marR="27540" marT="13770" marB="13770" anchor="ctr"/>
                </a:tc>
                <a:tc>
                  <a:txBody>
                    <a:bodyPr/>
                    <a:lstStyle/>
                    <a:p>
                      <a:pPr>
                        <a:buNone/>
                      </a:pPr>
                      <a:r>
                        <a:rPr lang="en-US" sz="1400" b="1"/>
                        <a:t>Pro: Captures long-range dependencies, improving recognition accuracy (~96.8%). Con: High computational complexity, limiting real-time edge deployment.</a:t>
                      </a:r>
                    </a:p>
                  </a:txBody>
                  <a:tcPr marL="27540" marR="27540" marT="13770" marB="13770" anchor="ctr"/>
                </a:tc>
                <a:extLst>
                  <a:ext uri="{0D108BD9-81ED-4DB2-BD59-A6C34878D82A}">
                    <a16:rowId xmlns:a16="http://schemas.microsoft.com/office/drawing/2014/main" val="1782814191"/>
                  </a:ext>
                </a:extLst>
              </a:tr>
              <a:tr h="1463323">
                <a:tc>
                  <a:txBody>
                    <a:bodyPr/>
                    <a:lstStyle/>
                    <a:p>
                      <a:pPr algn="ctr">
                        <a:buNone/>
                      </a:pPr>
                      <a:r>
                        <a:rPr lang="en-IN" sz="1400" b="1"/>
                        <a:t>6</a:t>
                      </a:r>
                    </a:p>
                  </a:txBody>
                  <a:tcPr marL="27540" marR="27540" marT="13770" marB="13770" anchor="ctr"/>
                </a:tc>
                <a:tc>
                  <a:txBody>
                    <a:bodyPr/>
                    <a:lstStyle/>
                    <a:p>
                      <a:pPr algn="ctr">
                        <a:buNone/>
                      </a:pPr>
                      <a:r>
                        <a:rPr lang="en-IN" sz="1400" b="1" dirty="0"/>
                        <a:t>Chen &amp; Zhang (2024)</a:t>
                      </a:r>
                    </a:p>
                  </a:txBody>
                  <a:tcPr marL="27540" marR="27540" marT="13770" marB="13770" anchor="ctr"/>
                </a:tc>
                <a:tc>
                  <a:txBody>
                    <a:bodyPr/>
                    <a:lstStyle/>
                    <a:p>
                      <a:pPr algn="ctr">
                        <a:buNone/>
                      </a:pPr>
                      <a:r>
                        <a:rPr lang="en-US" sz="1400" b="1" dirty="0"/>
                        <a:t>Deep reinforcement learning for dynamic parking allocation</a:t>
                      </a:r>
                    </a:p>
                  </a:txBody>
                  <a:tcPr marL="27540" marR="27540" marT="13770" marB="13770" anchor="ctr"/>
                </a:tc>
                <a:tc>
                  <a:txBody>
                    <a:bodyPr/>
                    <a:lstStyle/>
                    <a:p>
                      <a:pPr algn="ctr">
                        <a:buNone/>
                      </a:pPr>
                      <a:r>
                        <a:rPr lang="en-IN" sz="1400" b="1"/>
                        <a:t>Transportation Research Part C</a:t>
                      </a:r>
                    </a:p>
                  </a:txBody>
                  <a:tcPr marL="27540" marR="27540" marT="13770" marB="13770" anchor="ctr"/>
                </a:tc>
                <a:tc>
                  <a:txBody>
                    <a:bodyPr/>
                    <a:lstStyle/>
                    <a:p>
                      <a:pPr algn="ctr">
                        <a:buNone/>
                      </a:pPr>
                      <a:r>
                        <a:rPr lang="en-IN" sz="1400" b="1"/>
                        <a:t>Deep Q-learning, reinforcement learning</a:t>
                      </a:r>
                    </a:p>
                  </a:txBody>
                  <a:tcPr marL="27540" marR="27540" marT="13770" marB="13770" anchor="ctr"/>
                </a:tc>
                <a:tc>
                  <a:txBody>
                    <a:bodyPr/>
                    <a:lstStyle/>
                    <a:p>
                      <a:pPr>
                        <a:buNone/>
                      </a:pPr>
                      <a:r>
                        <a:rPr lang="en-US" sz="1400" b="1"/>
                        <a:t>Pro: Learns adaptive allocation strategies, improving space utilization (~91%). Con: High training and inference cost; not suitable for real-time peak scenarios.</a:t>
                      </a:r>
                    </a:p>
                  </a:txBody>
                  <a:tcPr marL="27540" marR="27540" marT="13770" marB="13770" anchor="ctr"/>
                </a:tc>
                <a:extLst>
                  <a:ext uri="{0D108BD9-81ED-4DB2-BD59-A6C34878D82A}">
                    <a16:rowId xmlns:a16="http://schemas.microsoft.com/office/drawing/2014/main" val="2266537124"/>
                  </a:ext>
                </a:extLst>
              </a:tr>
              <a:tr h="1337568">
                <a:tc>
                  <a:txBody>
                    <a:bodyPr/>
                    <a:lstStyle/>
                    <a:p>
                      <a:pPr algn="ctr">
                        <a:buNone/>
                      </a:pPr>
                      <a:r>
                        <a:rPr lang="en-IN" sz="1400" b="1"/>
                        <a:t>7</a:t>
                      </a:r>
                    </a:p>
                  </a:txBody>
                  <a:tcPr marL="27540" marR="27540" marT="13770" marB="13770" anchor="ctr"/>
                </a:tc>
                <a:tc>
                  <a:txBody>
                    <a:bodyPr/>
                    <a:lstStyle/>
                    <a:p>
                      <a:pPr algn="ctr">
                        <a:buNone/>
                      </a:pPr>
                      <a:r>
                        <a:rPr lang="en-IN" sz="1400" b="1"/>
                        <a:t>Krishnan &amp; Gupta (2023)</a:t>
                      </a:r>
                    </a:p>
                  </a:txBody>
                  <a:tcPr marL="27540" marR="27540" marT="13770" marB="13770" anchor="ctr"/>
                </a:tc>
                <a:tc>
                  <a:txBody>
                    <a:bodyPr/>
                    <a:lstStyle/>
                    <a:p>
                      <a:pPr algn="ctr">
                        <a:buNone/>
                      </a:pPr>
                      <a:r>
                        <a:rPr lang="en-US" sz="1400" b="1" dirty="0"/>
                        <a:t>Graph-based optimization for multi-level parking management</a:t>
                      </a:r>
                    </a:p>
                  </a:txBody>
                  <a:tcPr marL="27540" marR="27540" marT="13770" marB="13770" anchor="ctr"/>
                </a:tc>
                <a:tc>
                  <a:txBody>
                    <a:bodyPr/>
                    <a:lstStyle/>
                    <a:p>
                      <a:pPr algn="ctr">
                        <a:buNone/>
                      </a:pPr>
                      <a:r>
                        <a:rPr lang="en-IN" sz="1400" b="1" dirty="0"/>
                        <a:t>Computers &amp; Operations Research</a:t>
                      </a:r>
                    </a:p>
                  </a:txBody>
                  <a:tcPr marL="27540" marR="27540" marT="13770" marB="13770" anchor="ctr"/>
                </a:tc>
                <a:tc>
                  <a:txBody>
                    <a:bodyPr/>
                    <a:lstStyle/>
                    <a:p>
                      <a:pPr algn="ctr">
                        <a:buNone/>
                      </a:pPr>
                      <a:r>
                        <a:rPr lang="en-IN" sz="1400" b="1"/>
                        <a:t>Graph optimization, minimum-cost flow</a:t>
                      </a:r>
                    </a:p>
                  </a:txBody>
                  <a:tcPr marL="27540" marR="27540" marT="13770" marB="13770" anchor="ctr"/>
                </a:tc>
                <a:tc>
                  <a:txBody>
                    <a:bodyPr/>
                    <a:lstStyle/>
                    <a:p>
                      <a:pPr>
                        <a:buNone/>
                      </a:pPr>
                      <a:r>
                        <a:rPr lang="en-US" sz="1400" b="1"/>
                        <a:t>Pro: Provides optimal and scalable allocation with fast computation. Con: Assumes static inputs; lacks real-time adaptability to changing occupancy.</a:t>
                      </a:r>
                    </a:p>
                  </a:txBody>
                  <a:tcPr marL="27540" marR="27540" marT="13770" marB="13770" anchor="ctr"/>
                </a:tc>
                <a:extLst>
                  <a:ext uri="{0D108BD9-81ED-4DB2-BD59-A6C34878D82A}">
                    <a16:rowId xmlns:a16="http://schemas.microsoft.com/office/drawing/2014/main" val="1630118312"/>
                  </a:ext>
                </a:extLst>
              </a:tr>
              <a:tr h="1464916">
                <a:tc>
                  <a:txBody>
                    <a:bodyPr/>
                    <a:lstStyle/>
                    <a:p>
                      <a:pPr algn="ctr">
                        <a:buNone/>
                      </a:pPr>
                      <a:r>
                        <a:rPr lang="en-IN" sz="1400" b="1"/>
                        <a:t>8</a:t>
                      </a:r>
                    </a:p>
                  </a:txBody>
                  <a:tcPr marL="27540" marR="27540" marT="13770" marB="13770" anchor="ctr"/>
                </a:tc>
                <a:tc>
                  <a:txBody>
                    <a:bodyPr/>
                    <a:lstStyle/>
                    <a:p>
                      <a:pPr algn="ctr">
                        <a:buNone/>
                      </a:pPr>
                      <a:r>
                        <a:rPr lang="en-IN" sz="1400" b="1"/>
                        <a:t>Sailaja et al. (2024)</a:t>
                      </a:r>
                    </a:p>
                  </a:txBody>
                  <a:tcPr marL="27540" marR="27540" marT="13770" marB="13770" anchor="ctr"/>
                </a:tc>
                <a:tc>
                  <a:txBody>
                    <a:bodyPr/>
                    <a:lstStyle/>
                    <a:p>
                      <a:pPr algn="ctr">
                        <a:buNone/>
                      </a:pPr>
                      <a:r>
                        <a:rPr lang="en-US" sz="1400" b="1"/>
                        <a:t>CNN with YOLOv4 for real-time object detection</a:t>
                      </a:r>
                    </a:p>
                  </a:txBody>
                  <a:tcPr marL="27540" marR="27540" marT="13770" marB="13770" anchor="ctr"/>
                </a:tc>
                <a:tc>
                  <a:txBody>
                    <a:bodyPr/>
                    <a:lstStyle/>
                    <a:p>
                      <a:pPr algn="ctr">
                        <a:buNone/>
                      </a:pPr>
                      <a:r>
                        <a:rPr lang="en-IN" sz="1400" b="1" dirty="0"/>
                        <a:t>Springer Conference</a:t>
                      </a:r>
                    </a:p>
                  </a:txBody>
                  <a:tcPr marL="27540" marR="27540" marT="13770" marB="13770" anchor="ctr"/>
                </a:tc>
                <a:tc>
                  <a:txBody>
                    <a:bodyPr/>
                    <a:lstStyle/>
                    <a:p>
                      <a:pPr algn="ctr">
                        <a:buNone/>
                      </a:pPr>
                      <a:r>
                        <a:rPr lang="en-IN" sz="1400" b="1" dirty="0"/>
                        <a:t>CNN + YOLOv4</a:t>
                      </a:r>
                    </a:p>
                  </a:txBody>
                  <a:tcPr marL="27540" marR="27540" marT="13770" marB="13770" anchor="ctr"/>
                </a:tc>
                <a:tc>
                  <a:txBody>
                    <a:bodyPr/>
                    <a:lstStyle/>
                    <a:p>
                      <a:pPr>
                        <a:buNone/>
                      </a:pPr>
                      <a:r>
                        <a:rPr lang="en-US" sz="1400" b="1" dirty="0"/>
                        <a:t>Pro: Enables real-time detection with single-stage processing. Con: Lower accuracy and efficiency compared to advanced models like YOLOv8.</a:t>
                      </a:r>
                    </a:p>
                  </a:txBody>
                  <a:tcPr marL="27540" marR="27540" marT="13770" marB="13770" anchor="ctr"/>
                </a:tc>
                <a:extLst>
                  <a:ext uri="{0D108BD9-81ED-4DB2-BD59-A6C34878D82A}">
                    <a16:rowId xmlns:a16="http://schemas.microsoft.com/office/drawing/2014/main" val="2696472778"/>
                  </a:ext>
                </a:extLst>
              </a:tr>
            </a:tbl>
          </a:graphicData>
        </a:graphic>
      </p:graphicFrame>
    </p:spTree>
    <p:extLst>
      <p:ext uri="{BB962C8B-B14F-4D97-AF65-F5344CB8AC3E}">
        <p14:creationId xmlns:p14="http://schemas.microsoft.com/office/powerpoint/2010/main" val="1225051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4CEC-C3FD-7F1F-AFBE-F0529573218C}"/>
              </a:ext>
            </a:extLst>
          </p:cNvPr>
          <p:cNvSpPr>
            <a:spLocks noGrp="1"/>
          </p:cNvSpPr>
          <p:nvPr>
            <p:ph type="title"/>
          </p:nvPr>
        </p:nvSpPr>
        <p:spPr>
          <a:xfrm>
            <a:off x="736540" y="464694"/>
            <a:ext cx="10515600" cy="1325563"/>
          </a:xfrm>
        </p:spPr>
        <p:txBody>
          <a:bodyPr/>
          <a:lstStyle/>
          <a:p>
            <a:r>
              <a:rPr lang="en-IN" b="1" dirty="0">
                <a:solidFill>
                  <a:srgbClr val="C00000"/>
                </a:solidFill>
                <a:latin typeface="Times New Roman" panose="02020603050405020304" pitchFamily="18" charset="0"/>
                <a:cs typeface="Times New Roman" panose="02020603050405020304" pitchFamily="18" charset="0"/>
              </a:rPr>
              <a:t>Proposed System</a:t>
            </a:r>
          </a:p>
        </p:txBody>
      </p:sp>
      <p:pic>
        <p:nvPicPr>
          <p:cNvPr id="4" name="Picture 4" descr="C:\Documents and Settings\user.MPILAB35\Desktop\index.jpg">
            <a:extLst>
              <a:ext uri="{FF2B5EF4-FFF2-40B4-BE49-F238E27FC236}">
                <a16:creationId xmlns:a16="http://schemas.microsoft.com/office/drawing/2014/main" id="{9361DC7E-ECBD-96CA-05CD-F936C00DD8EE}"/>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
        <p:nvSpPr>
          <p:cNvPr id="5" name="Rectangle 1">
            <a:extLst>
              <a:ext uri="{FF2B5EF4-FFF2-40B4-BE49-F238E27FC236}">
                <a16:creationId xmlns:a16="http://schemas.microsoft.com/office/drawing/2014/main" id="{F7479B9A-726F-8510-4624-1E6E8EDCBC84}"/>
              </a:ext>
            </a:extLst>
          </p:cNvPr>
          <p:cNvSpPr>
            <a:spLocks noGrp="1" noChangeArrowheads="1"/>
          </p:cNvSpPr>
          <p:nvPr>
            <p:ph idx="1"/>
          </p:nvPr>
        </p:nvSpPr>
        <p:spPr bwMode="auto">
          <a:xfrm>
            <a:off x="736540" y="1790257"/>
            <a:ext cx="10447926" cy="413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proposed system is a </a:t>
            </a:r>
            <a:r>
              <a:rPr lang="en-US" sz="2400" b="1" dirty="0">
                <a:latin typeface="Times New Roman" panose="02020603050405020304" pitchFamily="18" charset="0"/>
                <a:cs typeface="Times New Roman" panose="02020603050405020304" pitchFamily="18" charset="0"/>
              </a:rPr>
              <a:t>hybrid cascade CNN-based smart parking system</a:t>
            </a:r>
            <a:r>
              <a:rPr lang="en-US" sz="2400" dirty="0">
                <a:latin typeface="Times New Roman" panose="02020603050405020304" pitchFamily="18" charset="0"/>
                <a:cs typeface="Times New Roman" panose="02020603050405020304" pitchFamily="18" charset="0"/>
              </a:rPr>
              <a:t>. It integrates </a:t>
            </a:r>
            <a:r>
              <a:rPr lang="en-US" sz="2400" b="1" dirty="0">
                <a:latin typeface="Times New Roman" panose="02020603050405020304" pitchFamily="18" charset="0"/>
                <a:cs typeface="Times New Roman" panose="02020603050405020304" pitchFamily="18" charset="0"/>
              </a:rPr>
              <a:t>vehicle detection, license plate recognition, and parking slot allocation</a:t>
            </a:r>
            <a:r>
              <a:rPr lang="en-US" sz="2400" dirty="0">
                <a:latin typeface="Times New Roman" panose="02020603050405020304" pitchFamily="18" charset="0"/>
                <a:cs typeface="Times New Roman" panose="02020603050405020304" pitchFamily="18" charset="0"/>
              </a:rPr>
              <a:t> into a unified pipeline.</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system uses </a:t>
            </a:r>
            <a:r>
              <a:rPr lang="en-US" sz="2400" b="1" dirty="0">
                <a:latin typeface="Times New Roman" panose="02020603050405020304" pitchFamily="18" charset="0"/>
                <a:cs typeface="Times New Roman" panose="02020603050405020304" pitchFamily="18" charset="0"/>
              </a:rPr>
              <a:t>YOLOv8</a:t>
            </a:r>
            <a:r>
              <a:rPr lang="en-US" sz="2400" dirty="0">
                <a:latin typeface="Times New Roman" panose="02020603050405020304" pitchFamily="18" charset="0"/>
                <a:cs typeface="Times New Roman" panose="02020603050405020304" pitchFamily="18" charset="0"/>
              </a:rPr>
              <a:t> for real-time vehicle detection.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applies </a:t>
            </a:r>
            <a:r>
              <a:rPr lang="en-US" sz="2400" b="1" dirty="0" err="1">
                <a:latin typeface="Times New Roman" panose="02020603050405020304" pitchFamily="18" charset="0"/>
                <a:cs typeface="Times New Roman" panose="02020603050405020304" pitchFamily="18" charset="0"/>
              </a:rPr>
              <a:t>MobileNet</a:t>
            </a:r>
            <a:r>
              <a:rPr lang="en-US" sz="2400" b="1" dirty="0">
                <a:latin typeface="Times New Roman" panose="02020603050405020304" pitchFamily="18" charset="0"/>
                <a:cs typeface="Times New Roman" panose="02020603050405020304" pitchFamily="18" charset="0"/>
              </a:rPr>
              <a:t>, CNN, and </a:t>
            </a:r>
            <a:r>
              <a:rPr lang="en-US" sz="2400" b="1" dirty="0" err="1">
                <a:latin typeface="Times New Roman" panose="02020603050405020304" pitchFamily="18" charset="0"/>
                <a:cs typeface="Times New Roman" panose="02020603050405020304" pitchFamily="18" charset="0"/>
              </a:rPr>
              <a:t>BiLSTM</a:t>
            </a:r>
            <a:r>
              <a:rPr lang="en-US" sz="2400" dirty="0">
                <a:latin typeface="Times New Roman" panose="02020603050405020304" pitchFamily="18" charset="0"/>
                <a:cs typeface="Times New Roman" panose="02020603050405020304" pitchFamily="18" charset="0"/>
              </a:rPr>
              <a:t> models for accurate license plate recognition.</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recognized plate is matched with a </a:t>
            </a:r>
            <a:r>
              <a:rPr lang="en-US" sz="2400" b="1" dirty="0">
                <a:latin typeface="Times New Roman" panose="02020603050405020304" pitchFamily="18" charset="0"/>
                <a:cs typeface="Times New Roman" panose="02020603050405020304" pitchFamily="18" charset="0"/>
              </a:rPr>
              <a:t>central database</a:t>
            </a:r>
            <a:r>
              <a:rPr lang="en-US" sz="2400" dirty="0">
                <a:latin typeface="Times New Roman" panose="02020603050405020304" pitchFamily="18" charset="0"/>
                <a:cs typeface="Times New Roman" panose="02020603050405020304" pitchFamily="18" charset="0"/>
              </a:rPr>
              <a:t> for vehicle identification. A </a:t>
            </a:r>
            <a:r>
              <a:rPr lang="en-US" sz="2400" b="1" dirty="0">
                <a:latin typeface="Times New Roman" panose="02020603050405020304" pitchFamily="18" charset="0"/>
                <a:cs typeface="Times New Roman" panose="02020603050405020304" pitchFamily="18" charset="0"/>
              </a:rPr>
              <a:t>dynamic parking allocation algorithm</a:t>
            </a:r>
            <a:r>
              <a:rPr lang="en-US" sz="2400" dirty="0">
                <a:latin typeface="Times New Roman" panose="02020603050405020304" pitchFamily="18" charset="0"/>
                <a:cs typeface="Times New Roman" panose="02020603050405020304" pitchFamily="18" charset="0"/>
              </a:rPr>
              <a:t> is used to assign the best parking slot.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allocation considers factors such as </a:t>
            </a:r>
            <a:r>
              <a:rPr lang="en-US" sz="2400" b="1" dirty="0">
                <a:latin typeface="Times New Roman" panose="02020603050405020304" pitchFamily="18" charset="0"/>
                <a:cs typeface="Times New Roman" panose="02020603050405020304" pitchFamily="18" charset="0"/>
              </a:rPr>
              <a:t>availability, distance, and vehicle size</a:t>
            </a:r>
            <a:r>
              <a:rPr lang="en-US" sz="2400" dirty="0">
                <a:latin typeface="Times New Roman" panose="02020603050405020304" pitchFamily="18" charset="0"/>
                <a:cs typeface="Times New Roman" panose="02020603050405020304" pitchFamily="18" charset="0"/>
              </a:rPr>
              <a:t>. The entire system runs on an </a:t>
            </a:r>
            <a:r>
              <a:rPr lang="en-US" sz="2400" b="1" dirty="0">
                <a:latin typeface="Times New Roman" panose="02020603050405020304" pitchFamily="18" charset="0"/>
                <a:cs typeface="Times New Roman" panose="02020603050405020304" pitchFamily="18" charset="0"/>
              </a:rPr>
              <a:t>edge device</a:t>
            </a:r>
            <a:r>
              <a:rPr lang="en-US" sz="2400" dirty="0">
                <a:latin typeface="Times New Roman" panose="02020603050405020304" pitchFamily="18" charset="0"/>
                <a:cs typeface="Times New Roman" panose="02020603050405020304" pitchFamily="18" charset="0"/>
              </a:rPr>
              <a:t>, achieving low latency of </a:t>
            </a:r>
            <a:r>
              <a:rPr lang="en-US" sz="2400" b="1" dirty="0">
                <a:latin typeface="Times New Roman" panose="02020603050405020304" pitchFamily="18" charset="0"/>
                <a:cs typeface="Times New Roman" panose="02020603050405020304" pitchFamily="18" charset="0"/>
              </a:rPr>
              <a:t>127 </a:t>
            </a:r>
            <a:r>
              <a:rPr lang="en-US" sz="2400" b="1" dirty="0" err="1">
                <a:latin typeface="Times New Roman" panose="02020603050405020304" pitchFamily="18" charset="0"/>
                <a:cs typeface="Times New Roman" panose="02020603050405020304" pitchFamily="18" charset="0"/>
              </a:rPr>
              <a:t>ms</a:t>
            </a:r>
            <a:r>
              <a:rPr lang="en-US" sz="2400" dirty="0" err="1">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140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D8688-7D15-D399-FDB4-511117385F87}"/>
              </a:ext>
            </a:extLst>
          </p:cNvPr>
          <p:cNvSpPr>
            <a:spLocks noGrp="1"/>
          </p:cNvSpPr>
          <p:nvPr>
            <p:ph type="title"/>
          </p:nvPr>
        </p:nvSpPr>
        <p:spPr/>
        <p:txBody>
          <a:bodyPr/>
          <a:lstStyle/>
          <a:p>
            <a:r>
              <a:rPr lang="en-US" b="1" dirty="0" err="1">
                <a:solidFill>
                  <a:srgbClr val="C00000"/>
                </a:solidFill>
                <a:latin typeface="Times New Roman" panose="02020603050405020304" pitchFamily="18" charset="0"/>
                <a:cs typeface="Times New Roman" panose="02020603050405020304" pitchFamily="18" charset="0"/>
              </a:rPr>
              <a:t>Comparision</a:t>
            </a:r>
            <a:r>
              <a:rPr lang="en-US" b="1" dirty="0">
                <a:solidFill>
                  <a:srgbClr val="C00000"/>
                </a:solidFill>
                <a:latin typeface="Times New Roman" panose="02020603050405020304" pitchFamily="18" charset="0"/>
                <a:cs typeface="Times New Roman" panose="02020603050405020304" pitchFamily="18" charset="0"/>
              </a:rPr>
              <a:t> Table</a:t>
            </a:r>
            <a:endParaRPr lang="en-IN" b="1" dirty="0">
              <a:solidFill>
                <a:srgbClr val="C0000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B7116D9-7550-8CC8-8595-BB65D1A38607}"/>
              </a:ext>
            </a:extLst>
          </p:cNvPr>
          <p:cNvGraphicFramePr>
            <a:graphicFrameLocks noGrp="1"/>
          </p:cNvGraphicFramePr>
          <p:nvPr>
            <p:extLst>
              <p:ext uri="{D42A27DB-BD31-4B8C-83A1-F6EECF244321}">
                <p14:modId xmlns:p14="http://schemas.microsoft.com/office/powerpoint/2010/main" val="3408265875"/>
              </p:ext>
            </p:extLst>
          </p:nvPr>
        </p:nvGraphicFramePr>
        <p:xfrm>
          <a:off x="838201" y="1500996"/>
          <a:ext cx="10634930" cy="4853448"/>
        </p:xfrm>
        <a:graphic>
          <a:graphicData uri="http://schemas.openxmlformats.org/drawingml/2006/table">
            <a:tbl>
              <a:tblPr firstRow="1" firstCol="1" bandRow="1">
                <a:tableStyleId>{5C22544A-7EE6-4342-B048-85BDC9FD1C3A}</a:tableStyleId>
              </a:tblPr>
              <a:tblGrid>
                <a:gridCol w="1840540">
                  <a:extLst>
                    <a:ext uri="{9D8B030D-6E8A-4147-A177-3AD203B41FA5}">
                      <a16:colId xmlns:a16="http://schemas.microsoft.com/office/drawing/2014/main" val="1991084574"/>
                    </a:ext>
                  </a:extLst>
                </a:gridCol>
                <a:gridCol w="1484576">
                  <a:extLst>
                    <a:ext uri="{9D8B030D-6E8A-4147-A177-3AD203B41FA5}">
                      <a16:colId xmlns:a16="http://schemas.microsoft.com/office/drawing/2014/main" val="2908397518"/>
                    </a:ext>
                  </a:extLst>
                </a:gridCol>
                <a:gridCol w="1482483">
                  <a:extLst>
                    <a:ext uri="{9D8B030D-6E8A-4147-A177-3AD203B41FA5}">
                      <a16:colId xmlns:a16="http://schemas.microsoft.com/office/drawing/2014/main" val="49399359"/>
                    </a:ext>
                  </a:extLst>
                </a:gridCol>
                <a:gridCol w="1340098">
                  <a:extLst>
                    <a:ext uri="{9D8B030D-6E8A-4147-A177-3AD203B41FA5}">
                      <a16:colId xmlns:a16="http://schemas.microsoft.com/office/drawing/2014/main" val="3145850582"/>
                    </a:ext>
                  </a:extLst>
                </a:gridCol>
                <a:gridCol w="1436417">
                  <a:extLst>
                    <a:ext uri="{9D8B030D-6E8A-4147-A177-3AD203B41FA5}">
                      <a16:colId xmlns:a16="http://schemas.microsoft.com/office/drawing/2014/main" val="363516240"/>
                    </a:ext>
                  </a:extLst>
                </a:gridCol>
                <a:gridCol w="1388257">
                  <a:extLst>
                    <a:ext uri="{9D8B030D-6E8A-4147-A177-3AD203B41FA5}">
                      <a16:colId xmlns:a16="http://schemas.microsoft.com/office/drawing/2014/main" val="1251743870"/>
                    </a:ext>
                  </a:extLst>
                </a:gridCol>
                <a:gridCol w="1662559">
                  <a:extLst>
                    <a:ext uri="{9D8B030D-6E8A-4147-A177-3AD203B41FA5}">
                      <a16:colId xmlns:a16="http://schemas.microsoft.com/office/drawing/2014/main" val="3356480953"/>
                    </a:ext>
                  </a:extLst>
                </a:gridCol>
              </a:tblGrid>
              <a:tr h="557566">
                <a:tc>
                  <a:txBody>
                    <a:bodyPr/>
                    <a:lstStyle/>
                    <a:p>
                      <a:pPr algn="ctr">
                        <a:buNone/>
                      </a:pPr>
                      <a:r>
                        <a:rPr lang="en-AU" sz="1600" dirty="0">
                          <a:effectLst/>
                        </a:rPr>
                        <a:t>Reference</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Methodology</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Detection Accuracy</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Recognition Accuracy</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Processing Time</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Allocation</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Limitation</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3606524740"/>
                  </a:ext>
                </a:extLst>
              </a:tr>
              <a:tr h="555252">
                <a:tc>
                  <a:txBody>
                    <a:bodyPr/>
                    <a:lstStyle/>
                    <a:p>
                      <a:pPr algn="ctr">
                        <a:buNone/>
                      </a:pPr>
                      <a:r>
                        <a:rPr lang="en-AU" sz="1600" dirty="0">
                          <a:effectLst/>
                        </a:rPr>
                        <a:t>Rahman &amp; Ahmed (2023)</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IoT sensor network</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94.7%</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180 ms</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Static</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 identification</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2138355533"/>
                  </a:ext>
                </a:extLst>
              </a:tr>
              <a:tr h="485267">
                <a:tc>
                  <a:txBody>
                    <a:bodyPr/>
                    <a:lstStyle/>
                    <a:p>
                      <a:pPr algn="ctr">
                        <a:buNone/>
                      </a:pPr>
                      <a:r>
                        <a:rPr lang="en-AU" sz="1600" dirty="0">
                          <a:effectLst/>
                        </a:rPr>
                        <a:t>Fernandez et al. (2024)</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MobileNetV3 vision</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96.3%</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34 ms</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None</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Detection only</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2466653504"/>
                  </a:ext>
                </a:extLst>
              </a:tr>
              <a:tr h="574917">
                <a:tc>
                  <a:txBody>
                    <a:bodyPr/>
                    <a:lstStyle/>
                    <a:p>
                      <a:pPr algn="ctr">
                        <a:buNone/>
                      </a:pPr>
                      <a:r>
                        <a:rPr lang="en-AU" sz="1600" dirty="0">
                          <a:effectLst/>
                        </a:rPr>
                        <a:t>Nguyen &amp; Tran (2024)</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YOLOv8 detection</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97.9%</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28 ms</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None</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 recognition</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418298566"/>
                  </a:ext>
                </a:extLst>
              </a:tr>
              <a:tr h="566241">
                <a:tc>
                  <a:txBody>
                    <a:bodyPr/>
                    <a:lstStyle/>
                    <a:p>
                      <a:pPr algn="ctr">
                        <a:buNone/>
                      </a:pPr>
                      <a:r>
                        <a:rPr lang="en-AU" sz="1600">
                          <a:effectLst/>
                        </a:rPr>
                        <a:t>Silva &amp; Costa (2024)</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STN + attention</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95.4%</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156 ms</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None</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Recognition only</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2455246957"/>
                  </a:ext>
                </a:extLst>
              </a:tr>
              <a:tr h="566241">
                <a:tc>
                  <a:txBody>
                    <a:bodyPr/>
                    <a:lstStyle/>
                    <a:p>
                      <a:pPr algn="ctr">
                        <a:buNone/>
                      </a:pPr>
                      <a:r>
                        <a:rPr lang="en-AU" sz="1600">
                          <a:effectLst/>
                        </a:rPr>
                        <a:t>Zhou &amp; Wang (2024)</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Transformer OCR</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96.8%</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89 ms</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None</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No detection</a:t>
                      </a:r>
                      <a:endParaRPr lang="en-IN" sz="2000" dirty="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4044502892"/>
                  </a:ext>
                </a:extLst>
              </a:tr>
              <a:tr h="566820">
                <a:tc>
                  <a:txBody>
                    <a:bodyPr/>
                    <a:lstStyle/>
                    <a:p>
                      <a:pPr algn="ctr">
                        <a:buNone/>
                      </a:pPr>
                      <a:r>
                        <a:rPr lang="en-AU" sz="1600">
                          <a:effectLst/>
                        </a:rPr>
                        <a:t>Chen &amp; Zhang (2024)</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RL allocation</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Dynamic</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No vision</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2106335399"/>
                  </a:ext>
                </a:extLst>
              </a:tr>
              <a:tr h="484689">
                <a:tc>
                  <a:txBody>
                    <a:bodyPr/>
                    <a:lstStyle/>
                    <a:p>
                      <a:pPr algn="ctr">
                        <a:buNone/>
                      </a:pPr>
                      <a:r>
                        <a:rPr lang="en-AU" sz="1600">
                          <a:effectLst/>
                        </a:rPr>
                        <a:t>Krishnan &amp; Gupta (2023)</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Graph optimization</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N/A</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N/A</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Dynamic</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Assumes known vehicles</a:t>
                      </a:r>
                      <a:endParaRPr lang="en-IN" sz="200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2301384250"/>
                  </a:ext>
                </a:extLst>
              </a:tr>
              <a:tr h="491051">
                <a:tc>
                  <a:txBody>
                    <a:bodyPr/>
                    <a:lstStyle/>
                    <a:p>
                      <a:pPr algn="ctr">
                        <a:buNone/>
                      </a:pPr>
                      <a:r>
                        <a:rPr lang="en-AU" sz="1600">
                          <a:effectLst/>
                        </a:rPr>
                        <a:t>Proposed</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Cascade CNN</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98.2%</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94.8%</a:t>
                      </a:r>
                      <a:endParaRPr lang="en-IN" sz="2000" dirty="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127 ms</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a:effectLst/>
                        </a:rPr>
                        <a:t>Dynamic</a:t>
                      </a:r>
                      <a:endParaRPr lang="en-IN" sz="2000">
                        <a:effectLst/>
                        <a:latin typeface="Times New Roman" panose="02020603050405020304" pitchFamily="18" charset="0"/>
                        <a:ea typeface="SimSun" panose="02010600030101010101" pitchFamily="2" charset="-122"/>
                      </a:endParaRPr>
                    </a:p>
                  </a:txBody>
                  <a:tcPr marL="14536" marR="14536" marT="0" marB="0" anchor="ctr"/>
                </a:tc>
                <a:tc>
                  <a:txBody>
                    <a:bodyPr/>
                    <a:lstStyle/>
                    <a:p>
                      <a:pPr algn="ctr">
                        <a:buNone/>
                      </a:pPr>
                      <a:r>
                        <a:rPr lang="en-AU" sz="1600" dirty="0">
                          <a:effectLst/>
                        </a:rPr>
                        <a:t>Integrated</a:t>
                      </a:r>
                      <a:endParaRPr lang="en-IN" sz="2000" dirty="0">
                        <a:effectLst/>
                        <a:latin typeface="Times New Roman" panose="02020603050405020304" pitchFamily="18" charset="0"/>
                        <a:ea typeface="SimSun" panose="02010600030101010101" pitchFamily="2" charset="-122"/>
                      </a:endParaRPr>
                    </a:p>
                  </a:txBody>
                  <a:tcPr marL="14536" marR="14536" marT="0" marB="0" anchor="ctr"/>
                </a:tc>
                <a:extLst>
                  <a:ext uri="{0D108BD9-81ED-4DB2-BD59-A6C34878D82A}">
                    <a16:rowId xmlns:a16="http://schemas.microsoft.com/office/drawing/2014/main" val="1336809682"/>
                  </a:ext>
                </a:extLst>
              </a:tr>
            </a:tbl>
          </a:graphicData>
        </a:graphic>
      </p:graphicFrame>
      <p:pic>
        <p:nvPicPr>
          <p:cNvPr id="4" name="Picture 4" descr="C:\Documents and Settings\user.MPILAB35\Desktop\index.jpg">
            <a:extLst>
              <a:ext uri="{FF2B5EF4-FFF2-40B4-BE49-F238E27FC236}">
                <a16:creationId xmlns:a16="http://schemas.microsoft.com/office/drawing/2014/main" id="{D6E67519-FF80-54B3-8F02-D9D40BB87FB9}"/>
              </a:ext>
            </a:extLst>
          </p:cNvPr>
          <p:cNvPicPr>
            <a:picLocks noChangeAspect="1" noChangeArrowheads="1"/>
          </p:cNvPicPr>
          <p:nvPr/>
        </p:nvPicPr>
        <p:blipFill>
          <a:blip r:embed="rId2"/>
          <a:srcRect b="31395"/>
          <a:stretch>
            <a:fillRect/>
          </a:stretch>
        </p:blipFill>
        <p:spPr bwMode="auto">
          <a:xfrm>
            <a:off x="10451913" y="-30951"/>
            <a:ext cx="1600200" cy="1338072"/>
          </a:xfrm>
          <a:prstGeom prst="rect">
            <a:avLst/>
          </a:prstGeom>
          <a:noFill/>
          <a:ln>
            <a:noFill/>
          </a:ln>
        </p:spPr>
      </p:pic>
    </p:spTree>
    <p:extLst>
      <p:ext uri="{BB962C8B-B14F-4D97-AF65-F5344CB8AC3E}">
        <p14:creationId xmlns:p14="http://schemas.microsoft.com/office/powerpoint/2010/main" val="1250768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97DF33-910B-E07F-F4A7-501902EF3446}"/>
              </a:ext>
            </a:extLst>
          </p:cNvPr>
          <p:cNvSpPr>
            <a:spLocks noGrp="1"/>
          </p:cNvSpPr>
          <p:nvPr>
            <p:ph type="title"/>
          </p:nvPr>
        </p:nvSpPr>
        <p:spPr>
          <a:xfrm>
            <a:off x="915838" y="644339"/>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Block Diagram</a:t>
            </a:r>
            <a:endParaRPr lang="en-IN" b="1" dirty="0">
              <a:solidFill>
                <a:srgbClr val="C00000"/>
              </a:solidFill>
              <a:latin typeface="Times New Roman" panose="02020603050405020304" pitchFamily="18" charset="0"/>
              <a:cs typeface="Times New Roman" panose="02020603050405020304" pitchFamily="18" charset="0"/>
            </a:endParaRPr>
          </a:p>
        </p:txBody>
      </p:sp>
      <p:pic>
        <p:nvPicPr>
          <p:cNvPr id="14" name="Picture 4" descr="C:\Documents and Settings\user.MPILAB35\Desktop\index.jpg">
            <a:extLst>
              <a:ext uri="{FF2B5EF4-FFF2-40B4-BE49-F238E27FC236}">
                <a16:creationId xmlns:a16="http://schemas.microsoft.com/office/drawing/2014/main" id="{4ED81C18-4F8F-E082-D63C-F6398432B73B}"/>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
        <p:nvSpPr>
          <p:cNvPr id="3" name="Rectangle 2">
            <a:extLst>
              <a:ext uri="{FF2B5EF4-FFF2-40B4-BE49-F238E27FC236}">
                <a16:creationId xmlns:a16="http://schemas.microsoft.com/office/drawing/2014/main" id="{3BB04A4E-57EB-AD78-7B2E-377E03E2CC54}"/>
              </a:ext>
            </a:extLst>
          </p:cNvPr>
          <p:cNvSpPr/>
          <p:nvPr/>
        </p:nvSpPr>
        <p:spPr>
          <a:xfrm>
            <a:off x="733245" y="2122098"/>
            <a:ext cx="2182483" cy="1147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BF3985C6-EF8D-D2AE-E376-ECC4826BFDE1}"/>
              </a:ext>
            </a:extLst>
          </p:cNvPr>
          <p:cNvSpPr/>
          <p:nvPr/>
        </p:nvSpPr>
        <p:spPr>
          <a:xfrm>
            <a:off x="3374365" y="4231256"/>
            <a:ext cx="2182483" cy="1147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4044A6C7-5B4E-E2CD-65D7-DDE1E7A0B9B7}"/>
              </a:ext>
            </a:extLst>
          </p:cNvPr>
          <p:cNvSpPr/>
          <p:nvPr/>
        </p:nvSpPr>
        <p:spPr>
          <a:xfrm>
            <a:off x="733245" y="4231256"/>
            <a:ext cx="2182483" cy="1147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F046E39A-3F94-5D06-9D8C-4D4A7C06DCEA}"/>
              </a:ext>
            </a:extLst>
          </p:cNvPr>
          <p:cNvSpPr/>
          <p:nvPr/>
        </p:nvSpPr>
        <p:spPr>
          <a:xfrm>
            <a:off x="8525270" y="2130724"/>
            <a:ext cx="2182483" cy="1147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3AB6CF5E-09D2-2BAC-D904-BACE1A6F12FA}"/>
              </a:ext>
            </a:extLst>
          </p:cNvPr>
          <p:cNvSpPr/>
          <p:nvPr/>
        </p:nvSpPr>
        <p:spPr>
          <a:xfrm>
            <a:off x="5981487" y="2122098"/>
            <a:ext cx="2182483" cy="1147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8DDFA5EE-42C8-8254-1A95-4AC6F19FFDF5}"/>
              </a:ext>
            </a:extLst>
          </p:cNvPr>
          <p:cNvSpPr/>
          <p:nvPr/>
        </p:nvSpPr>
        <p:spPr>
          <a:xfrm>
            <a:off x="3243105" y="2122098"/>
            <a:ext cx="2284989" cy="1147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B8614734-D421-11AA-C02E-562ECA41B3F2}"/>
              </a:ext>
            </a:extLst>
          </p:cNvPr>
          <p:cNvSpPr txBox="1"/>
          <p:nvPr/>
        </p:nvSpPr>
        <p:spPr>
          <a:xfrm>
            <a:off x="834470" y="2527539"/>
            <a:ext cx="2032959" cy="369332"/>
          </a:xfrm>
          <a:prstGeom prst="rect">
            <a:avLst/>
          </a:prstGeom>
          <a:noFill/>
        </p:spPr>
        <p:txBody>
          <a:bodyPr wrap="square" rtlCol="0">
            <a:spAutoFit/>
          </a:bodyPr>
          <a:lstStyle/>
          <a:p>
            <a:r>
              <a:rPr lang="en-US" b="1" dirty="0">
                <a:solidFill>
                  <a:schemeClr val="bg1"/>
                </a:solidFill>
              </a:rPr>
              <a:t>IMAGE CAPTURING</a:t>
            </a:r>
            <a:endParaRPr lang="en-IN" b="1" dirty="0">
              <a:solidFill>
                <a:schemeClr val="bg1"/>
              </a:solidFill>
            </a:endParaRPr>
          </a:p>
        </p:txBody>
      </p:sp>
      <p:sp>
        <p:nvSpPr>
          <p:cNvPr id="15" name="TextBox 14">
            <a:extLst>
              <a:ext uri="{FF2B5EF4-FFF2-40B4-BE49-F238E27FC236}">
                <a16:creationId xmlns:a16="http://schemas.microsoft.com/office/drawing/2014/main" id="{6B099ECA-7CF4-CB27-8E77-07F7D0EBAF58}"/>
              </a:ext>
            </a:extLst>
          </p:cNvPr>
          <p:cNvSpPr txBox="1"/>
          <p:nvPr/>
        </p:nvSpPr>
        <p:spPr>
          <a:xfrm>
            <a:off x="3460123" y="2354619"/>
            <a:ext cx="2010965" cy="646331"/>
          </a:xfrm>
          <a:prstGeom prst="rect">
            <a:avLst/>
          </a:prstGeom>
          <a:noFill/>
        </p:spPr>
        <p:txBody>
          <a:bodyPr wrap="square" rtlCol="0">
            <a:spAutoFit/>
          </a:bodyPr>
          <a:lstStyle/>
          <a:p>
            <a:r>
              <a:rPr lang="en-US" b="1" dirty="0">
                <a:solidFill>
                  <a:schemeClr val="bg1"/>
                </a:solidFill>
              </a:rPr>
              <a:t>YOLOV8 </a:t>
            </a:r>
          </a:p>
          <a:p>
            <a:r>
              <a:rPr lang="en-US" b="1" dirty="0">
                <a:solidFill>
                  <a:schemeClr val="bg1"/>
                </a:solidFill>
              </a:rPr>
              <a:t>(vehicle detection)</a:t>
            </a:r>
            <a:endParaRPr lang="en-IN" b="1" dirty="0">
              <a:solidFill>
                <a:schemeClr val="bg1"/>
              </a:solidFill>
            </a:endParaRPr>
          </a:p>
        </p:txBody>
      </p:sp>
      <p:sp>
        <p:nvSpPr>
          <p:cNvPr id="18" name="TextBox 17">
            <a:extLst>
              <a:ext uri="{FF2B5EF4-FFF2-40B4-BE49-F238E27FC236}">
                <a16:creationId xmlns:a16="http://schemas.microsoft.com/office/drawing/2014/main" id="{5DB651A6-1BEE-B5F0-6B88-9101CD24A3A7}"/>
              </a:ext>
            </a:extLst>
          </p:cNvPr>
          <p:cNvSpPr txBox="1"/>
          <p:nvPr/>
        </p:nvSpPr>
        <p:spPr>
          <a:xfrm>
            <a:off x="6180109" y="2285523"/>
            <a:ext cx="1851083" cy="646331"/>
          </a:xfrm>
          <a:prstGeom prst="rect">
            <a:avLst/>
          </a:prstGeom>
          <a:noFill/>
        </p:spPr>
        <p:txBody>
          <a:bodyPr wrap="square" rtlCol="0">
            <a:spAutoFit/>
          </a:bodyPr>
          <a:lstStyle/>
          <a:p>
            <a:r>
              <a:rPr lang="en-US" b="1" dirty="0">
                <a:solidFill>
                  <a:schemeClr val="bg1"/>
                </a:solidFill>
              </a:rPr>
              <a:t>Localization</a:t>
            </a:r>
          </a:p>
          <a:p>
            <a:r>
              <a:rPr lang="en-US" b="1" dirty="0">
                <a:solidFill>
                  <a:schemeClr val="bg1"/>
                </a:solidFill>
              </a:rPr>
              <a:t>(</a:t>
            </a:r>
            <a:r>
              <a:rPr lang="en-US" sz="1600" b="1" dirty="0">
                <a:solidFill>
                  <a:schemeClr val="bg1"/>
                </a:solidFill>
              </a:rPr>
              <a:t>MobileNETv3-FPN) </a:t>
            </a:r>
            <a:endParaRPr lang="en-IN" sz="1600" b="1" dirty="0">
              <a:solidFill>
                <a:schemeClr val="bg1"/>
              </a:solidFill>
            </a:endParaRPr>
          </a:p>
        </p:txBody>
      </p:sp>
      <p:sp>
        <p:nvSpPr>
          <p:cNvPr id="19" name="TextBox 18">
            <a:extLst>
              <a:ext uri="{FF2B5EF4-FFF2-40B4-BE49-F238E27FC236}">
                <a16:creationId xmlns:a16="http://schemas.microsoft.com/office/drawing/2014/main" id="{2521E71E-ECC9-6A8D-D784-C861127AE299}"/>
              </a:ext>
            </a:extLst>
          </p:cNvPr>
          <p:cNvSpPr txBox="1"/>
          <p:nvPr/>
        </p:nvSpPr>
        <p:spPr>
          <a:xfrm>
            <a:off x="8703123" y="2144162"/>
            <a:ext cx="2004630" cy="1107996"/>
          </a:xfrm>
          <a:prstGeom prst="rect">
            <a:avLst/>
          </a:prstGeom>
          <a:noFill/>
        </p:spPr>
        <p:txBody>
          <a:bodyPr wrap="square" rtlCol="0">
            <a:spAutoFit/>
          </a:bodyPr>
          <a:lstStyle/>
          <a:p>
            <a:r>
              <a:rPr lang="en-US" b="1" dirty="0">
                <a:solidFill>
                  <a:schemeClr val="bg1"/>
                </a:solidFill>
              </a:rPr>
              <a:t>CNN</a:t>
            </a:r>
          </a:p>
          <a:p>
            <a:r>
              <a:rPr lang="en-US" sz="1600" b="1" dirty="0">
                <a:solidFill>
                  <a:schemeClr val="bg1"/>
                </a:solidFill>
              </a:rPr>
              <a:t>(character </a:t>
            </a:r>
            <a:r>
              <a:rPr lang="en-US" sz="1600" b="1" dirty="0" err="1">
                <a:solidFill>
                  <a:schemeClr val="bg1"/>
                </a:solidFill>
              </a:rPr>
              <a:t>recognization</a:t>
            </a:r>
            <a:r>
              <a:rPr lang="en-US" sz="1600" b="1" dirty="0">
                <a:solidFill>
                  <a:schemeClr val="bg1"/>
                </a:solidFill>
              </a:rPr>
              <a:t> by OCR) </a:t>
            </a:r>
            <a:endParaRPr lang="en-IN" sz="1600" b="1" dirty="0">
              <a:solidFill>
                <a:schemeClr val="bg1"/>
              </a:solidFill>
            </a:endParaRPr>
          </a:p>
        </p:txBody>
      </p:sp>
      <p:sp>
        <p:nvSpPr>
          <p:cNvPr id="20" name="TextBox 19">
            <a:extLst>
              <a:ext uri="{FF2B5EF4-FFF2-40B4-BE49-F238E27FC236}">
                <a16:creationId xmlns:a16="http://schemas.microsoft.com/office/drawing/2014/main" id="{D49C6F18-7CB4-5B56-E116-3CF73B86D68C}"/>
              </a:ext>
            </a:extLst>
          </p:cNvPr>
          <p:cNvSpPr txBox="1"/>
          <p:nvPr/>
        </p:nvSpPr>
        <p:spPr>
          <a:xfrm>
            <a:off x="983411" y="4563374"/>
            <a:ext cx="1716657" cy="646331"/>
          </a:xfrm>
          <a:prstGeom prst="rect">
            <a:avLst/>
          </a:prstGeom>
          <a:noFill/>
        </p:spPr>
        <p:txBody>
          <a:bodyPr wrap="square" rtlCol="0">
            <a:spAutoFit/>
          </a:bodyPr>
          <a:lstStyle/>
          <a:p>
            <a:r>
              <a:rPr lang="en-US" b="1" dirty="0">
                <a:solidFill>
                  <a:schemeClr val="bg1"/>
                </a:solidFill>
              </a:rPr>
              <a:t>Dynamic spot allocation </a:t>
            </a:r>
            <a:endParaRPr lang="en-IN" b="1" dirty="0">
              <a:solidFill>
                <a:schemeClr val="bg1"/>
              </a:solidFill>
            </a:endParaRPr>
          </a:p>
        </p:txBody>
      </p:sp>
      <p:sp>
        <p:nvSpPr>
          <p:cNvPr id="21" name="TextBox 20">
            <a:extLst>
              <a:ext uri="{FF2B5EF4-FFF2-40B4-BE49-F238E27FC236}">
                <a16:creationId xmlns:a16="http://schemas.microsoft.com/office/drawing/2014/main" id="{6813A9A6-597B-7B3C-8A9E-EFF3C1EDADEE}"/>
              </a:ext>
            </a:extLst>
          </p:cNvPr>
          <p:cNvSpPr txBox="1"/>
          <p:nvPr/>
        </p:nvSpPr>
        <p:spPr>
          <a:xfrm>
            <a:off x="3937239" y="4577115"/>
            <a:ext cx="1466491" cy="369332"/>
          </a:xfrm>
          <a:prstGeom prst="rect">
            <a:avLst/>
          </a:prstGeom>
          <a:noFill/>
        </p:spPr>
        <p:txBody>
          <a:bodyPr wrap="square" rtlCol="0">
            <a:spAutoFit/>
          </a:bodyPr>
          <a:lstStyle/>
          <a:p>
            <a:r>
              <a:rPr lang="en-US" b="1" dirty="0">
                <a:solidFill>
                  <a:schemeClr val="bg1"/>
                </a:solidFill>
              </a:rPr>
              <a:t>Display </a:t>
            </a:r>
            <a:endParaRPr lang="en-IN" b="1" dirty="0">
              <a:solidFill>
                <a:schemeClr val="bg1"/>
              </a:solidFill>
            </a:endParaRPr>
          </a:p>
        </p:txBody>
      </p:sp>
      <p:cxnSp>
        <p:nvCxnSpPr>
          <p:cNvPr id="27" name="Straight Arrow Connector 26">
            <a:extLst>
              <a:ext uri="{FF2B5EF4-FFF2-40B4-BE49-F238E27FC236}">
                <a16:creationId xmlns:a16="http://schemas.microsoft.com/office/drawing/2014/main" id="{DFDD4B03-0E1B-AAA2-AB85-70927C60D68C}"/>
              </a:ext>
            </a:extLst>
          </p:cNvPr>
          <p:cNvCxnSpPr>
            <a:stCxn id="3" idx="3"/>
            <a:endCxn id="12" idx="1"/>
          </p:cNvCxnSpPr>
          <p:nvPr/>
        </p:nvCxnSpPr>
        <p:spPr>
          <a:xfrm>
            <a:off x="2915728" y="2695755"/>
            <a:ext cx="32737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CB2C02BE-F5B1-0CEE-8BBC-2B32562D5806}"/>
              </a:ext>
            </a:extLst>
          </p:cNvPr>
          <p:cNvCxnSpPr>
            <a:cxnSpLocks/>
            <a:stCxn id="12" idx="3"/>
            <a:endCxn id="10" idx="1"/>
          </p:cNvCxnSpPr>
          <p:nvPr/>
        </p:nvCxnSpPr>
        <p:spPr>
          <a:xfrm>
            <a:off x="5528094" y="2695755"/>
            <a:ext cx="45339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F09F9C5-19DA-4CBE-B84A-D1C982636AF8}"/>
              </a:ext>
            </a:extLst>
          </p:cNvPr>
          <p:cNvCxnSpPr/>
          <p:nvPr/>
        </p:nvCxnSpPr>
        <p:spPr>
          <a:xfrm>
            <a:off x="3220528" y="3000555"/>
            <a:ext cx="3273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23CDFCD-EA4B-4490-D351-38AF28F4F5A5}"/>
              </a:ext>
            </a:extLst>
          </p:cNvPr>
          <p:cNvCxnSpPr/>
          <p:nvPr/>
        </p:nvCxnSpPr>
        <p:spPr>
          <a:xfrm>
            <a:off x="3372928" y="3152955"/>
            <a:ext cx="3273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55FA1C2-070D-2BD9-16AD-61791D61848C}"/>
              </a:ext>
            </a:extLst>
          </p:cNvPr>
          <p:cNvCxnSpPr>
            <a:cxnSpLocks/>
            <a:stCxn id="10" idx="3"/>
            <a:endCxn id="9" idx="1"/>
          </p:cNvCxnSpPr>
          <p:nvPr/>
        </p:nvCxnSpPr>
        <p:spPr>
          <a:xfrm>
            <a:off x="8163970" y="2695755"/>
            <a:ext cx="361300" cy="86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452CC731-C9DD-174C-E502-F8DB2C64F6A4}"/>
              </a:ext>
            </a:extLst>
          </p:cNvPr>
          <p:cNvCxnSpPr>
            <a:stCxn id="9" idx="3"/>
          </p:cNvCxnSpPr>
          <p:nvPr/>
        </p:nvCxnSpPr>
        <p:spPr>
          <a:xfrm>
            <a:off x="10707753" y="2704381"/>
            <a:ext cx="1091240" cy="0"/>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47B6F31B-E11E-6CAB-F631-B80640DB83C8}"/>
              </a:ext>
            </a:extLst>
          </p:cNvPr>
          <p:cNvCxnSpPr>
            <a:cxnSpLocks/>
          </p:cNvCxnSpPr>
          <p:nvPr/>
        </p:nvCxnSpPr>
        <p:spPr>
          <a:xfrm>
            <a:off x="11844068" y="2731902"/>
            <a:ext cx="0" cy="1218996"/>
          </a:xfrm>
          <a:prstGeom prst="line">
            <a:avLst/>
          </a:prstGeom>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C0F4CB57-94A1-848B-4554-B3D86E764EDB}"/>
              </a:ext>
            </a:extLst>
          </p:cNvPr>
          <p:cNvCxnSpPr/>
          <p:nvPr/>
        </p:nvCxnSpPr>
        <p:spPr>
          <a:xfrm flipH="1">
            <a:off x="241540" y="3950898"/>
            <a:ext cx="11602528" cy="77638"/>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Connector 43">
            <a:extLst>
              <a:ext uri="{FF2B5EF4-FFF2-40B4-BE49-F238E27FC236}">
                <a16:creationId xmlns:a16="http://schemas.microsoft.com/office/drawing/2014/main" id="{65E2B80B-237A-45DD-086F-D239710E55ED}"/>
              </a:ext>
            </a:extLst>
          </p:cNvPr>
          <p:cNvCxnSpPr/>
          <p:nvPr/>
        </p:nvCxnSpPr>
        <p:spPr>
          <a:xfrm>
            <a:off x="241540" y="4028536"/>
            <a:ext cx="0" cy="733245"/>
          </a:xfrm>
          <a:prstGeom prst="line">
            <a:avLst/>
          </a:prstGeom>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AFC8C927-917F-94C3-DBF4-4AE1A17E6975}"/>
              </a:ext>
            </a:extLst>
          </p:cNvPr>
          <p:cNvCxnSpPr>
            <a:cxnSpLocks/>
            <a:endCxn id="8" idx="1"/>
          </p:cNvCxnSpPr>
          <p:nvPr/>
        </p:nvCxnSpPr>
        <p:spPr>
          <a:xfrm>
            <a:off x="241540" y="4804913"/>
            <a:ext cx="491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498BF1BA-B2F4-9A2F-3687-F48557A7FEA1}"/>
              </a:ext>
            </a:extLst>
          </p:cNvPr>
          <p:cNvCxnSpPr>
            <a:cxnSpLocks/>
          </p:cNvCxnSpPr>
          <p:nvPr/>
        </p:nvCxnSpPr>
        <p:spPr>
          <a:xfrm>
            <a:off x="2915728" y="4804913"/>
            <a:ext cx="491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 name="Straight Connector 3">
            <a:extLst>
              <a:ext uri="{FF2B5EF4-FFF2-40B4-BE49-F238E27FC236}">
                <a16:creationId xmlns:a16="http://schemas.microsoft.com/office/drawing/2014/main" id="{DF80EC45-9416-F4AC-E8D8-B4618F0B9C34}"/>
              </a:ext>
            </a:extLst>
          </p:cNvPr>
          <p:cNvCxnSpPr/>
          <p:nvPr/>
        </p:nvCxnSpPr>
        <p:spPr>
          <a:xfrm>
            <a:off x="241540" y="4761781"/>
            <a:ext cx="0" cy="43132"/>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37E3B7B6-6000-24F3-03CD-C4A9F76A4F03}"/>
              </a:ext>
            </a:extLst>
          </p:cNvPr>
          <p:cNvCxnSpPr>
            <a:cxnSpLocks/>
          </p:cNvCxnSpPr>
          <p:nvPr/>
        </p:nvCxnSpPr>
        <p:spPr>
          <a:xfrm>
            <a:off x="11802912" y="2704381"/>
            <a:ext cx="411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9C177BF-9F85-043E-1780-B2A93E179E14}"/>
              </a:ext>
            </a:extLst>
          </p:cNvPr>
          <p:cNvCxnSpPr>
            <a:cxnSpLocks/>
          </p:cNvCxnSpPr>
          <p:nvPr/>
        </p:nvCxnSpPr>
        <p:spPr>
          <a:xfrm>
            <a:off x="11844068" y="2704381"/>
            <a:ext cx="0" cy="5414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680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3B9F0-4596-A28B-1496-D988843B9FF0}"/>
              </a:ext>
            </a:extLst>
          </p:cNvPr>
          <p:cNvSpPr>
            <a:spLocks noGrp="1"/>
          </p:cNvSpPr>
          <p:nvPr>
            <p:ph type="title"/>
          </p:nvPr>
        </p:nvSpPr>
        <p:spPr>
          <a:xfrm>
            <a:off x="473165" y="371132"/>
            <a:ext cx="10515600" cy="1325563"/>
          </a:xfrm>
        </p:spPr>
        <p:txBody>
          <a:bodyPr>
            <a:normAutofit/>
          </a:bodyPr>
          <a:lstStyle/>
          <a:p>
            <a:r>
              <a:rPr lang="en-IN" sz="4000" b="1" dirty="0">
                <a:solidFill>
                  <a:srgbClr val="C00000"/>
                </a:solidFill>
                <a:latin typeface="Times New Roman" panose="02020603050405020304" pitchFamily="18" charset="0"/>
                <a:cs typeface="Times New Roman" panose="02020603050405020304" pitchFamily="18" charset="0"/>
              </a:rPr>
              <a:t>Methodology / System Design</a:t>
            </a:r>
          </a:p>
        </p:txBody>
      </p:sp>
      <p:sp>
        <p:nvSpPr>
          <p:cNvPr id="7" name="TextBox 6">
            <a:extLst>
              <a:ext uri="{FF2B5EF4-FFF2-40B4-BE49-F238E27FC236}">
                <a16:creationId xmlns:a16="http://schemas.microsoft.com/office/drawing/2014/main" id="{A1FD567E-D989-F712-9A66-70095310373F}"/>
              </a:ext>
            </a:extLst>
          </p:cNvPr>
          <p:cNvSpPr txBox="1"/>
          <p:nvPr/>
        </p:nvSpPr>
        <p:spPr>
          <a:xfrm>
            <a:off x="5622587" y="2971800"/>
            <a:ext cx="914400" cy="914400"/>
          </a:xfrm>
          <a:prstGeom prst="rect">
            <a:avLst/>
          </a:prstGeom>
          <a:noFill/>
        </p:spPr>
        <p:txBody>
          <a:bodyPr wrap="square" rtlCol="0">
            <a:spAutoFit/>
          </a:bodyPr>
          <a:lstStyle/>
          <a:p>
            <a:endParaRPr lang="en-US" dirty="0"/>
          </a:p>
        </p:txBody>
      </p:sp>
      <p:pic>
        <p:nvPicPr>
          <p:cNvPr id="3" name="Picture 4" descr="C:\Documents and Settings\user.MPILAB35\Desktop\index.jpg">
            <a:extLst>
              <a:ext uri="{FF2B5EF4-FFF2-40B4-BE49-F238E27FC236}">
                <a16:creationId xmlns:a16="http://schemas.microsoft.com/office/drawing/2014/main" id="{0269EA0F-5492-41C2-2E59-29F8988C3873}"/>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
        <p:nvSpPr>
          <p:cNvPr id="4" name="Rectangle 1">
            <a:extLst>
              <a:ext uri="{FF2B5EF4-FFF2-40B4-BE49-F238E27FC236}">
                <a16:creationId xmlns:a16="http://schemas.microsoft.com/office/drawing/2014/main" id="{ADD96776-54F1-EC88-E83F-E24268BFA28F}"/>
              </a:ext>
            </a:extLst>
          </p:cNvPr>
          <p:cNvSpPr>
            <a:spLocks noChangeArrowheads="1"/>
          </p:cNvSpPr>
          <p:nvPr/>
        </p:nvSpPr>
        <p:spPr bwMode="auto">
          <a:xfrm>
            <a:off x="473165" y="1531665"/>
            <a:ext cx="1069804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System Overview</a:t>
            </a:r>
            <a:r>
              <a:rPr lang="en-US" sz="2000" dirty="0">
                <a:latin typeface="Times New Roman" panose="02020603050405020304" pitchFamily="18" charset="0"/>
                <a:cs typeface="Times New Roman" panose="02020603050405020304" pitchFamily="18" charset="0"/>
              </a:rPr>
              <a:t> The system uses 3 stages — detect vehicle, find number plate, read plate characters — and automatically assigns a parking spot. Everything runs on a small edge computer at the entry gate in just 127ms.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1. Vehicle Detection (Stage 1)</a:t>
            </a:r>
            <a:r>
              <a:rPr lang="en-US" sz="2000" dirty="0">
                <a:latin typeface="Times New Roman" panose="02020603050405020304" pitchFamily="18" charset="0"/>
                <a:cs typeface="Times New Roman" panose="02020603050405020304" pitchFamily="18" charset="0"/>
              </a:rPr>
              <a:t> YOLOv8-nano model detects the vehicle from camera feed in 23ms. It was trained on 15,000 parking images covering day, night, and different angles. Achieves 98.2% accuracy.</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Plate Reading (Stage 2 &amp; 3)</a:t>
            </a:r>
            <a:r>
              <a:rPr lang="en-US" sz="2000" dirty="0">
                <a:latin typeface="Times New Roman" panose="02020603050405020304" pitchFamily="18" charset="0"/>
                <a:cs typeface="Times New Roman" panose="02020603050405020304" pitchFamily="18" charset="0"/>
              </a:rPr>
              <a:t> MobileNetV3 crops and straightens the plate. Then a 6-layer CNN +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reads the characters and converts them to plate text. Achieves 94.8% character recognition accuracy.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Spot Allocation</a:t>
            </a:r>
            <a:r>
              <a:rPr lang="en-US" sz="2000" dirty="0">
                <a:latin typeface="Times New Roman" panose="02020603050405020304" pitchFamily="18" charset="0"/>
                <a:cs typeface="Times New Roman" panose="02020603050405020304" pitchFamily="18" charset="0"/>
              </a:rPr>
              <a:t> Matched plate is checked in a database. Best parking spot is assigned based on available space, distance, and vehicle size. Reduces parking search time by 43.6%. Total processing = 127ms.</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44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0A5A-EE36-211E-BDAE-A21FD95A107E}"/>
              </a:ext>
            </a:extLst>
          </p:cNvPr>
          <p:cNvSpPr>
            <a:spLocks noGrp="1"/>
          </p:cNvSpPr>
          <p:nvPr>
            <p:ph type="title"/>
          </p:nvPr>
        </p:nvSpPr>
        <p:spPr>
          <a:xfrm>
            <a:off x="676028" y="291206"/>
            <a:ext cx="10515600" cy="1325563"/>
          </a:xfrm>
        </p:spPr>
        <p:txBody>
          <a:bodyPr>
            <a:normAutofit/>
          </a:bodyPr>
          <a:lstStyle/>
          <a:p>
            <a:r>
              <a:rPr lang="en-IN" sz="4000" b="1" dirty="0">
                <a:solidFill>
                  <a:srgbClr val="C00000"/>
                </a:solidFill>
                <a:latin typeface="Times New Roman" panose="02020603050405020304" pitchFamily="18" charset="0"/>
                <a:cs typeface="Times New Roman" panose="02020603050405020304" pitchFamily="18" charset="0"/>
              </a:rPr>
              <a:t>Hardware &amp; Software Requirements</a:t>
            </a:r>
          </a:p>
        </p:txBody>
      </p:sp>
      <p:pic>
        <p:nvPicPr>
          <p:cNvPr id="4" name="Picture 4" descr="C:\Documents and Settings\user.MPILAB35\Desktop\index.jpg">
            <a:extLst>
              <a:ext uri="{FF2B5EF4-FFF2-40B4-BE49-F238E27FC236}">
                <a16:creationId xmlns:a16="http://schemas.microsoft.com/office/drawing/2014/main" id="{03B607CA-B969-C68F-7D11-7805BDC4C81E}"/>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
        <p:nvSpPr>
          <p:cNvPr id="5" name="Rectangle 1">
            <a:extLst>
              <a:ext uri="{FF2B5EF4-FFF2-40B4-BE49-F238E27FC236}">
                <a16:creationId xmlns:a16="http://schemas.microsoft.com/office/drawing/2014/main" id="{184AB4CC-DCF4-2C21-EA2C-3B0DBD80CE53}"/>
              </a:ext>
            </a:extLst>
          </p:cNvPr>
          <p:cNvSpPr>
            <a:spLocks noGrp="1" noChangeArrowheads="1"/>
          </p:cNvSpPr>
          <p:nvPr>
            <p:ph idx="1"/>
          </p:nvPr>
        </p:nvSpPr>
        <p:spPr bwMode="auto">
          <a:xfrm>
            <a:off x="793629" y="2655478"/>
            <a:ext cx="1060474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Programming Language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to develop the system pipeline.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YOLOv8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Vehicle detection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OCR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License plate character recognition.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PostgreSQL Database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Stores vehicle records and parking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 Libraries (OpenCV, Deep Learning Frameworks)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Image processing and model execution.</a:t>
            </a:r>
          </a:p>
        </p:txBody>
      </p:sp>
      <p:sp>
        <p:nvSpPr>
          <p:cNvPr id="7" name="TextBox 6">
            <a:extLst>
              <a:ext uri="{FF2B5EF4-FFF2-40B4-BE49-F238E27FC236}">
                <a16:creationId xmlns:a16="http://schemas.microsoft.com/office/drawing/2014/main" id="{8E846F6D-F041-5BB2-7916-822DBADC4218}"/>
              </a:ext>
            </a:extLst>
          </p:cNvPr>
          <p:cNvSpPr txBox="1"/>
          <p:nvPr/>
        </p:nvSpPr>
        <p:spPr>
          <a:xfrm>
            <a:off x="793629" y="2210791"/>
            <a:ext cx="6094562" cy="461665"/>
          </a:xfrm>
          <a:prstGeom prst="rect">
            <a:avLst/>
          </a:prstGeom>
          <a:noFill/>
        </p:spPr>
        <p:txBody>
          <a:bodyPr wrap="square">
            <a:spAutoFit/>
          </a:bodyPr>
          <a:lstStyle/>
          <a:p>
            <a:r>
              <a:rPr lang="en-IN" sz="2400" b="1" dirty="0">
                <a:solidFill>
                  <a:srgbClr val="C00000"/>
                </a:solidFill>
                <a:latin typeface="Times New Roman" panose="02020603050405020304" pitchFamily="18" charset="0"/>
                <a:cs typeface="Times New Roman" panose="02020603050405020304" pitchFamily="18" charset="0"/>
              </a:rPr>
              <a:t>Software Require</a:t>
            </a:r>
            <a:endParaRPr lang="en-IN" sz="2400" dirty="0"/>
          </a:p>
        </p:txBody>
      </p:sp>
      <p:sp>
        <p:nvSpPr>
          <p:cNvPr id="8" name="Rectangle 2">
            <a:extLst>
              <a:ext uri="{FF2B5EF4-FFF2-40B4-BE49-F238E27FC236}">
                <a16:creationId xmlns:a16="http://schemas.microsoft.com/office/drawing/2014/main" id="{F2B8E0E4-22F4-A42E-DB20-42764BB7B2A1}"/>
              </a:ext>
            </a:extLst>
          </p:cNvPr>
          <p:cNvSpPr>
            <a:spLocks noChangeArrowheads="1"/>
          </p:cNvSpPr>
          <p:nvPr/>
        </p:nvSpPr>
        <p:spPr bwMode="auto">
          <a:xfrm>
            <a:off x="793629" y="5368296"/>
            <a:ext cx="90728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High-resolution Cameras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Capture vehicle images at entry, exit, and parking levels. </a:t>
            </a:r>
          </a:p>
        </p:txBody>
      </p:sp>
      <p:sp>
        <p:nvSpPr>
          <p:cNvPr id="10" name="TextBox 9">
            <a:extLst>
              <a:ext uri="{FF2B5EF4-FFF2-40B4-BE49-F238E27FC236}">
                <a16:creationId xmlns:a16="http://schemas.microsoft.com/office/drawing/2014/main" id="{8E879D2F-1191-CAF4-0143-19055EE98443}"/>
              </a:ext>
            </a:extLst>
          </p:cNvPr>
          <p:cNvSpPr txBox="1"/>
          <p:nvPr/>
        </p:nvSpPr>
        <p:spPr>
          <a:xfrm>
            <a:off x="793629" y="4968187"/>
            <a:ext cx="6094562" cy="461665"/>
          </a:xfrm>
          <a:prstGeom prst="rect">
            <a:avLst/>
          </a:prstGeom>
          <a:noFill/>
        </p:spPr>
        <p:txBody>
          <a:bodyPr wrap="square">
            <a:spAutoFit/>
          </a:bodyPr>
          <a:lstStyle/>
          <a:p>
            <a:r>
              <a:rPr lang="en-IN" sz="2400" b="1" dirty="0">
                <a:solidFill>
                  <a:srgbClr val="C00000"/>
                </a:solidFill>
                <a:latin typeface="Times New Roman" panose="02020603050405020304" pitchFamily="18" charset="0"/>
                <a:cs typeface="Times New Roman" panose="02020603050405020304" pitchFamily="18" charset="0"/>
              </a:rPr>
              <a:t>Hardware Require</a:t>
            </a:r>
            <a:endParaRPr lang="en-IN" sz="2400" dirty="0"/>
          </a:p>
        </p:txBody>
      </p:sp>
    </p:spTree>
    <p:extLst>
      <p:ext uri="{BB962C8B-B14F-4D97-AF65-F5344CB8AC3E}">
        <p14:creationId xmlns:p14="http://schemas.microsoft.com/office/powerpoint/2010/main" val="2249056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32AE9-31EB-B5DF-27C6-2CA7E75B6378}"/>
              </a:ext>
            </a:extLst>
          </p:cNvPr>
          <p:cNvSpPr>
            <a:spLocks noGrp="1"/>
          </p:cNvSpPr>
          <p:nvPr>
            <p:ph type="title"/>
          </p:nvPr>
        </p:nvSpPr>
        <p:spPr>
          <a:xfrm>
            <a:off x="3834493" y="227306"/>
            <a:ext cx="10515600" cy="1325563"/>
          </a:xfrm>
        </p:spPr>
        <p:txBody>
          <a:bodyPr>
            <a:normAutofit/>
          </a:bodyPr>
          <a:lstStyle/>
          <a:p>
            <a:r>
              <a:rPr lang="en-IN" sz="4800" b="1" dirty="0">
                <a:solidFill>
                  <a:srgbClr val="C00000"/>
                </a:solidFill>
              </a:rPr>
              <a:t>Implementation</a:t>
            </a:r>
          </a:p>
        </p:txBody>
      </p:sp>
      <p:pic>
        <p:nvPicPr>
          <p:cNvPr id="3" name="Picture 4" descr="C:\Documents and Settings\user.MPILAB35\Desktop\index.jpg">
            <a:extLst>
              <a:ext uri="{FF2B5EF4-FFF2-40B4-BE49-F238E27FC236}">
                <a16:creationId xmlns:a16="http://schemas.microsoft.com/office/drawing/2014/main" id="{0A40643B-9BFC-5471-EF7D-30CCC47C797C}"/>
              </a:ext>
            </a:extLst>
          </p:cNvPr>
          <p:cNvPicPr>
            <a:picLocks noChangeAspect="1" noChangeArrowheads="1"/>
          </p:cNvPicPr>
          <p:nvPr/>
        </p:nvPicPr>
        <p:blipFill>
          <a:blip r:embed="rId2"/>
          <a:srcRect b="31395"/>
          <a:stretch>
            <a:fillRect/>
          </a:stretch>
        </p:blipFill>
        <p:spPr bwMode="auto">
          <a:xfrm>
            <a:off x="10451913" y="-30951"/>
            <a:ext cx="1600200" cy="1338072"/>
          </a:xfrm>
          <a:prstGeom prst="rect">
            <a:avLst/>
          </a:prstGeom>
          <a:noFill/>
          <a:ln>
            <a:noFill/>
          </a:ln>
        </p:spPr>
      </p:pic>
      <p:pic>
        <p:nvPicPr>
          <p:cNvPr id="5" name="Picture 4">
            <a:extLst>
              <a:ext uri="{FF2B5EF4-FFF2-40B4-BE49-F238E27FC236}">
                <a16:creationId xmlns:a16="http://schemas.microsoft.com/office/drawing/2014/main" id="{6F212D22-AB50-353E-8DA3-A2A6104ECB18}"/>
              </a:ext>
            </a:extLst>
          </p:cNvPr>
          <p:cNvPicPr>
            <a:picLocks noChangeAspect="1"/>
          </p:cNvPicPr>
          <p:nvPr/>
        </p:nvPicPr>
        <p:blipFill>
          <a:blip r:embed="rId3"/>
          <a:srcRect l="14151" r="9303"/>
          <a:stretch>
            <a:fillRect/>
          </a:stretch>
        </p:blipFill>
        <p:spPr>
          <a:xfrm>
            <a:off x="627600" y="1541919"/>
            <a:ext cx="4988109" cy="3429000"/>
          </a:xfrm>
          <a:prstGeom prst="rect">
            <a:avLst/>
          </a:prstGeom>
        </p:spPr>
      </p:pic>
      <p:sp>
        <p:nvSpPr>
          <p:cNvPr id="10" name="TextBox 9">
            <a:extLst>
              <a:ext uri="{FF2B5EF4-FFF2-40B4-BE49-F238E27FC236}">
                <a16:creationId xmlns:a16="http://schemas.microsoft.com/office/drawing/2014/main" id="{582A7223-28DE-F45D-0B30-F371ED1AC5FB}"/>
              </a:ext>
            </a:extLst>
          </p:cNvPr>
          <p:cNvSpPr txBox="1"/>
          <p:nvPr/>
        </p:nvSpPr>
        <p:spPr>
          <a:xfrm>
            <a:off x="1071050" y="5104005"/>
            <a:ext cx="520065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Fig: Detected vehicle in the slot </a:t>
            </a:r>
            <a:endParaRPr lang="en-IN" i="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DD36423-6601-1EF1-A6A7-05E7C951A7F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798"/>
          <a:stretch>
            <a:fillRect/>
          </a:stretch>
        </p:blipFill>
        <p:spPr bwMode="auto">
          <a:xfrm>
            <a:off x="6096000" y="1536444"/>
            <a:ext cx="5643418" cy="3429000"/>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50466BB7-AB2B-1A4A-45E9-27EC89A3919D}"/>
              </a:ext>
            </a:extLst>
          </p:cNvPr>
          <p:cNvSpPr txBox="1"/>
          <p:nvPr/>
        </p:nvSpPr>
        <p:spPr>
          <a:xfrm>
            <a:off x="6096000" y="5043096"/>
            <a:ext cx="5643418" cy="786754"/>
          </a:xfrm>
          <a:prstGeom prst="rect">
            <a:avLst/>
          </a:prstGeom>
          <a:noFill/>
        </p:spPr>
        <p:txBody>
          <a:bodyPr wrap="square">
            <a:spAutoFit/>
          </a:bodyPr>
          <a:lstStyle/>
          <a:p>
            <a:pPr algn="ctr">
              <a:lnSpc>
                <a:spcPct val="150000"/>
              </a:lnSpc>
              <a:buNone/>
            </a:pPr>
            <a:r>
              <a:rPr lang="en-US" sz="1600" i="1" dirty="0">
                <a:effectLst/>
                <a:latin typeface="Times New Roman" panose="02020603050405020304" pitchFamily="18" charset="0"/>
                <a:ea typeface="Times New Roman" panose="02020603050405020304" pitchFamily="18" charset="0"/>
              </a:rPr>
              <a:t>Fig : Real-time YOLOv8 vehicle detection output showing slot occupancy status</a:t>
            </a:r>
            <a:endParaRPr lang="en-IN" sz="1400" i="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38803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6A726-EF3F-522C-E818-09F667157FB7}"/>
              </a:ext>
            </a:extLst>
          </p:cNvPr>
          <p:cNvSpPr>
            <a:spLocks noGrp="1"/>
          </p:cNvSpPr>
          <p:nvPr>
            <p:ph type="title"/>
          </p:nvPr>
        </p:nvSpPr>
        <p:spPr/>
        <p:txBody>
          <a:bodyPr/>
          <a:lstStyle/>
          <a:p>
            <a:r>
              <a:rPr lang="en-US" b="1" dirty="0">
                <a:solidFill>
                  <a:srgbClr val="C00000"/>
                </a:solidFill>
              </a:rPr>
              <a:t>Implementation:</a:t>
            </a:r>
            <a:endParaRPr lang="en-IN" b="1" dirty="0">
              <a:solidFill>
                <a:srgbClr val="C00000"/>
              </a:solidFill>
            </a:endParaRPr>
          </a:p>
        </p:txBody>
      </p:sp>
      <p:sp>
        <p:nvSpPr>
          <p:cNvPr id="11" name="TextBox 10">
            <a:extLst>
              <a:ext uri="{FF2B5EF4-FFF2-40B4-BE49-F238E27FC236}">
                <a16:creationId xmlns:a16="http://schemas.microsoft.com/office/drawing/2014/main" id="{8C632D85-8C85-EB10-07D8-97DC019666E6}"/>
              </a:ext>
            </a:extLst>
          </p:cNvPr>
          <p:cNvSpPr txBox="1"/>
          <p:nvPr/>
        </p:nvSpPr>
        <p:spPr>
          <a:xfrm>
            <a:off x="1734670" y="5952565"/>
            <a:ext cx="9144000" cy="786754"/>
          </a:xfrm>
          <a:prstGeom prst="rect">
            <a:avLst/>
          </a:prstGeom>
          <a:noFill/>
        </p:spPr>
        <p:txBody>
          <a:bodyPr wrap="square">
            <a:spAutoFit/>
          </a:bodyPr>
          <a:lstStyle/>
          <a:p>
            <a:pPr algn="ctr">
              <a:lnSpc>
                <a:spcPct val="150000"/>
              </a:lnSpc>
            </a:pPr>
            <a:r>
              <a:rPr lang="en-US" sz="1600" i="1" dirty="0">
                <a:effectLst/>
                <a:latin typeface="Times New Roman" panose="02020603050405020304" pitchFamily="18" charset="0"/>
              </a:rPr>
              <a:t>Fig: </a:t>
            </a:r>
            <a:r>
              <a:rPr lang="en-US" sz="1600" i="1" dirty="0">
                <a:latin typeface="Times New Roman" panose="02020603050405020304" pitchFamily="18" charset="0"/>
                <a:cs typeface="Times New Roman" panose="02020603050405020304" pitchFamily="18" charset="0"/>
              </a:rPr>
              <a:t>License plate localization and character recognition output showing detected plate</a:t>
            </a:r>
            <a:endParaRPr lang="en-IN" sz="1600" i="1" dirty="0">
              <a:latin typeface="Times New Roman" panose="02020603050405020304" pitchFamily="18" charset="0"/>
              <a:cs typeface="Times New Roman" panose="02020603050405020304" pitchFamily="18" charset="0"/>
            </a:endParaRPr>
          </a:p>
          <a:p>
            <a:pPr marL="0" marR="0" algn="ctr">
              <a:lnSpc>
                <a:spcPct val="150000"/>
              </a:lnSpc>
              <a:buNone/>
            </a:pPr>
            <a:endParaRPr lang="en-US" sz="1600" i="1" dirty="0">
              <a:effectLst/>
              <a:latin typeface="Times New Roman" panose="020206030504050203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05411393-0368-A6BB-EE33-4F30EE52C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9654"/>
          <a:stretch>
            <a:fillRect/>
          </a:stretch>
        </p:blipFill>
        <p:spPr>
          <a:xfrm>
            <a:off x="932329" y="1423358"/>
            <a:ext cx="9852212" cy="4529207"/>
          </a:xfrm>
          <a:prstGeom prst="rect">
            <a:avLst/>
          </a:prstGeom>
          <a:noFill/>
          <a:ln>
            <a:noFill/>
          </a:ln>
        </p:spPr>
      </p:pic>
      <p:pic>
        <p:nvPicPr>
          <p:cNvPr id="4" name="Picture 4" descr="C:\Documents and Settings\user.MPILAB35\Desktop\index.jpg">
            <a:extLst>
              <a:ext uri="{FF2B5EF4-FFF2-40B4-BE49-F238E27FC236}">
                <a16:creationId xmlns:a16="http://schemas.microsoft.com/office/drawing/2014/main" id="{C7F51518-46F1-96D9-C21D-D32F48076BB3}"/>
              </a:ext>
            </a:extLst>
          </p:cNvPr>
          <p:cNvPicPr>
            <a:picLocks noChangeAspect="1" noChangeArrowheads="1"/>
          </p:cNvPicPr>
          <p:nvPr/>
        </p:nvPicPr>
        <p:blipFill>
          <a:blip r:embed="rId3"/>
          <a:srcRect b="31395"/>
          <a:stretch>
            <a:fillRect/>
          </a:stretch>
        </p:blipFill>
        <p:spPr bwMode="auto">
          <a:xfrm>
            <a:off x="10451913" y="-30951"/>
            <a:ext cx="1600200" cy="1338072"/>
          </a:xfrm>
          <a:prstGeom prst="rect">
            <a:avLst/>
          </a:prstGeom>
          <a:noFill/>
          <a:ln>
            <a:noFill/>
          </a:ln>
        </p:spPr>
      </p:pic>
    </p:spTree>
    <p:extLst>
      <p:ext uri="{BB962C8B-B14F-4D97-AF65-F5344CB8AC3E}">
        <p14:creationId xmlns:p14="http://schemas.microsoft.com/office/powerpoint/2010/main" val="267444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BB88-E405-2C6D-EEFE-7072497151CC}"/>
              </a:ext>
            </a:extLst>
          </p:cNvPr>
          <p:cNvSpPr>
            <a:spLocks noGrp="1"/>
          </p:cNvSpPr>
          <p:nvPr>
            <p:ph type="title"/>
          </p:nvPr>
        </p:nvSpPr>
        <p:spPr>
          <a:xfrm>
            <a:off x="565749" y="374847"/>
            <a:ext cx="3000555" cy="739056"/>
          </a:xfrm>
        </p:spPr>
        <p:txBody>
          <a:bodyPr>
            <a:normAutofit/>
          </a:bodyPr>
          <a:lstStyle/>
          <a:p>
            <a:r>
              <a:rPr lang="en-US" sz="3600" b="1" dirty="0">
                <a:solidFill>
                  <a:srgbClr val="C00000"/>
                </a:solidFill>
                <a:latin typeface="Times New Roman" panose="02020603050405020304" pitchFamily="18" charset="0"/>
                <a:cs typeface="Times New Roman" panose="02020603050405020304" pitchFamily="18" charset="0"/>
              </a:rPr>
              <a:t>Calculation:</a:t>
            </a: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EB0A6B9-E6F3-1E93-F29A-79A5A045C5F1}"/>
              </a:ext>
            </a:extLst>
          </p:cNvPr>
          <p:cNvSpPr txBox="1"/>
          <p:nvPr/>
        </p:nvSpPr>
        <p:spPr>
          <a:xfrm>
            <a:off x="565749" y="1363776"/>
            <a:ext cx="11626251" cy="1015663"/>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Stage – 1: Vehicle detection accuracy</a:t>
            </a:r>
          </a:p>
          <a:p>
            <a:r>
              <a:rPr lang="en-US" sz="2000" dirty="0">
                <a:latin typeface="Times New Roman" panose="02020603050405020304" pitchFamily="18" charset="0"/>
                <a:cs typeface="Times New Roman" panose="02020603050405020304" pitchFamily="18" charset="0"/>
              </a:rPr>
              <a:t>      Detection Accuracy (%) = (Number of Correct Detections / Total Vehicle Events) × 100</a:t>
            </a:r>
          </a:p>
          <a:p>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DEF7288-AFF1-0D2C-7FF0-B7AFC03D5F1C}"/>
              </a:ext>
            </a:extLst>
          </p:cNvPr>
          <p:cNvSpPr txBox="1"/>
          <p:nvPr/>
        </p:nvSpPr>
        <p:spPr>
          <a:xfrm>
            <a:off x="932371" y="2208601"/>
            <a:ext cx="6096000" cy="1546577"/>
          </a:xfrm>
          <a:prstGeom prst="rect">
            <a:avLst/>
          </a:prstGeom>
          <a:noFill/>
        </p:spPr>
        <p:txBody>
          <a:bodyPr wrap="square">
            <a:spAutoFit/>
          </a:bodyPr>
          <a:lstStyle/>
          <a:p>
            <a:pPr algn="l">
              <a:spcAft>
                <a:spcPts val="900"/>
              </a:spcAft>
              <a:buNone/>
            </a:pPr>
            <a:r>
              <a:rPr lang="en-US" b="0" i="0" dirty="0">
                <a:effectLst/>
                <a:latin typeface="Times New Roman" panose="02020603050405020304" pitchFamily="18" charset="0"/>
                <a:cs typeface="Times New Roman" panose="02020603050405020304" pitchFamily="18" charset="0"/>
              </a:rPr>
              <a:t>Total vehicles  = 25,847</a:t>
            </a:r>
          </a:p>
          <a:p>
            <a:pPr algn="l">
              <a:spcAft>
                <a:spcPts val="900"/>
              </a:spcAft>
              <a:buNone/>
            </a:pPr>
            <a:r>
              <a:rPr lang="en-US" b="0" i="0" dirty="0">
                <a:effectLst/>
                <a:latin typeface="Times New Roman" panose="02020603050405020304" pitchFamily="18" charset="0"/>
                <a:cs typeface="Times New Roman" panose="02020603050405020304" pitchFamily="18" charset="0"/>
              </a:rPr>
              <a:t>Out of these</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correctly detected 25,381 vehicles</a:t>
            </a:r>
          </a:p>
          <a:p>
            <a:pPr algn="l">
              <a:spcAft>
                <a:spcPts val="900"/>
              </a:spcAft>
              <a:buNone/>
            </a:pPr>
            <a:r>
              <a:rPr lang="en-US" b="0" i="0" dirty="0">
                <a:effectLst/>
                <a:latin typeface="Times New Roman" panose="02020603050405020304" pitchFamily="18" charset="0"/>
                <a:cs typeface="Times New Roman" panose="02020603050405020304" pitchFamily="18" charset="0"/>
              </a:rPr>
              <a:t>Missed (not detected) = 25,847 − 25,381 = 466 vehicles</a:t>
            </a:r>
          </a:p>
          <a:p>
            <a:pPr>
              <a:spcAft>
                <a:spcPts val="900"/>
              </a:spcAft>
            </a:pPr>
            <a:r>
              <a:rPr lang="en-IN" dirty="0">
                <a:latin typeface="Times New Roman" panose="02020603050405020304" pitchFamily="18" charset="0"/>
                <a:cs typeface="Times New Roman" panose="02020603050405020304" pitchFamily="18" charset="0"/>
              </a:rPr>
              <a:t>Accuracy = (25,381 ÷ 25,847) × 100 = </a:t>
            </a:r>
            <a:r>
              <a:rPr lang="en-IN" b="1" dirty="0">
                <a:latin typeface="Times New Roman" panose="02020603050405020304" pitchFamily="18" charset="0"/>
                <a:cs typeface="Times New Roman" panose="02020603050405020304" pitchFamily="18" charset="0"/>
              </a:rPr>
              <a:t>98.2%</a:t>
            </a:r>
            <a:endParaRPr lang="en-US" b="1" i="0" dirty="0">
              <a:effectLs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24F3BEC-9DD4-D24B-2DC0-2175D1D5CFCC}"/>
              </a:ext>
            </a:extLst>
          </p:cNvPr>
          <p:cNvSpPr txBox="1"/>
          <p:nvPr/>
        </p:nvSpPr>
        <p:spPr>
          <a:xfrm>
            <a:off x="729172" y="4005051"/>
            <a:ext cx="6299199" cy="1938992"/>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Stage 2 — Plate Localization </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From 24,465 detected vehicles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806 localization failures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Success = 24,465 − 806 = </a:t>
            </a:r>
            <a:r>
              <a:rPr lang="en-US" sz="2000" b="1" dirty="0">
                <a:latin typeface="Times New Roman" panose="02020603050405020304" pitchFamily="18" charset="0"/>
                <a:cs typeface="Times New Roman" panose="02020603050405020304" pitchFamily="18" charset="0"/>
              </a:rPr>
              <a:t>23,659</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23,659 ÷ 24,465 × 100 = </a:t>
            </a:r>
            <a:r>
              <a:rPr lang="en-US" sz="2000" b="1" dirty="0">
                <a:latin typeface="Times New Roman" panose="02020603050405020304" pitchFamily="18" charset="0"/>
                <a:cs typeface="Times New Roman" panose="02020603050405020304" pitchFamily="18" charset="0"/>
              </a:rPr>
              <a:t>96.7%</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9297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81123-7077-E12D-26FC-7E722F76E511}"/>
              </a:ext>
            </a:extLst>
          </p:cNvPr>
          <p:cNvSpPr>
            <a:spLocks noGrp="1"/>
          </p:cNvSpPr>
          <p:nvPr>
            <p:ph type="title"/>
          </p:nvPr>
        </p:nvSpPr>
        <p:spPr>
          <a:xfrm>
            <a:off x="767178" y="388886"/>
            <a:ext cx="5891074" cy="604693"/>
          </a:xfrm>
        </p:spPr>
        <p:txBody>
          <a:bodyPr>
            <a:normAutofit/>
          </a:bodyPr>
          <a:lstStyle/>
          <a:p>
            <a:pPr marL="457200" indent="-4572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Stage 3 : Recognition accuracy</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9138932-2979-CB9E-848F-06E57F1D59AC}"/>
              </a:ext>
            </a:extLst>
          </p:cNvPr>
          <p:cNvSpPr txBox="1"/>
          <p:nvPr/>
        </p:nvSpPr>
        <p:spPr>
          <a:xfrm>
            <a:off x="838200" y="857075"/>
            <a:ext cx="8275782" cy="2092881"/>
          </a:xfrm>
          <a:prstGeom prst="rect">
            <a:avLst/>
          </a:prstGeom>
          <a:noFill/>
        </p:spPr>
        <p:txBody>
          <a:bodyPr wrap="square">
            <a:spAutoFit/>
          </a:bodyPr>
          <a:lstStyle/>
          <a:p>
            <a:pPr marL="342900" indent="-342900" algn="l">
              <a:spcAft>
                <a:spcPts val="900"/>
              </a:spcAft>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Vehicles detected in previous stage = 25,381</a:t>
            </a:r>
          </a:p>
          <a:p>
            <a:pPr marL="342900" indent="-342900" algn="l">
              <a:spcAft>
                <a:spcPts val="900"/>
              </a:spcAft>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Plates successfully found = 24,543 (that is 96.7% of 25,381)</a:t>
            </a:r>
          </a:p>
          <a:p>
            <a:pPr marL="342900" indent="-342900" algn="l">
              <a:spcAft>
                <a:spcPts val="900"/>
              </a:spcAft>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Out of those, characters correctly read = 23,267 plates</a:t>
            </a:r>
          </a:p>
          <a:p>
            <a:pPr marL="342900" indent="-342900" algn="l">
              <a:spcAft>
                <a:spcPts val="900"/>
              </a:spcAft>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Errors = 24,543 − 23,267 = 1,247 errors </a:t>
            </a:r>
          </a:p>
          <a:p>
            <a:pPr marL="342900" indent="-342900">
              <a:spcAft>
                <a:spcPts val="900"/>
              </a:spcAft>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Accuracy = (23,267 ÷ 24,543) × 100 = 94.8%</a:t>
            </a:r>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183BD9E-2F67-5AE0-D19E-D089FBA132A8}"/>
              </a:ext>
            </a:extLst>
          </p:cNvPr>
          <p:cNvSpPr txBox="1"/>
          <p:nvPr/>
        </p:nvSpPr>
        <p:spPr>
          <a:xfrm>
            <a:off x="838200" y="3075057"/>
            <a:ext cx="6096000" cy="400110"/>
          </a:xfrm>
          <a:prstGeom prst="rect">
            <a:avLst/>
          </a:prstGeom>
          <a:noFill/>
        </p:spPr>
        <p:txBody>
          <a:bodyPr wrap="square">
            <a:spAutoFit/>
          </a:bodyPr>
          <a:lstStyle/>
          <a:p>
            <a:pPr marL="285750" indent="-285750">
              <a:buFont typeface="Wingdings" panose="05000000000000000000" pitchFamily="2" charset="2"/>
              <a:buChar char="Ø"/>
            </a:pPr>
            <a:r>
              <a:rPr lang="en-IN" sz="2000" b="1" i="0" cap="all" dirty="0">
                <a:effectLst/>
                <a:latin typeface="Times New Roman" panose="02020603050405020304" pitchFamily="18" charset="0"/>
                <a:cs typeface="Times New Roman" panose="02020603050405020304" pitchFamily="18" charset="0"/>
              </a:rPr>
              <a:t>End-to-End accuracy</a:t>
            </a:r>
            <a:endParaRPr lang="en-IN"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1A5055B-2BF6-4893-7114-03F5149F0220}"/>
              </a:ext>
            </a:extLst>
          </p:cNvPr>
          <p:cNvSpPr txBox="1"/>
          <p:nvPr/>
        </p:nvSpPr>
        <p:spPr>
          <a:xfrm>
            <a:off x="838200" y="3475167"/>
            <a:ext cx="9626600" cy="707886"/>
          </a:xfrm>
          <a:prstGeom prst="rect">
            <a:avLst/>
          </a:prstGeom>
          <a:noFill/>
        </p:spPr>
        <p:txBody>
          <a:bodyPr wrap="square">
            <a:spAutoFit/>
          </a:bodyPr>
          <a:lstStyle/>
          <a:p>
            <a:pPr marL="342900" indent="-342900" algn="l">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All 3 stages must succeed together: 98.2% × 96.7% × 94.8% = 90.3%</a:t>
            </a:r>
          </a:p>
          <a:p>
            <a:pPr marL="342900" indent="-342900" algn="l">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25,847 × 0.903 = 23,342 fully successful entries</a:t>
            </a:r>
          </a:p>
        </p:txBody>
      </p:sp>
      <p:sp>
        <p:nvSpPr>
          <p:cNvPr id="10" name="TextBox 9">
            <a:extLst>
              <a:ext uri="{FF2B5EF4-FFF2-40B4-BE49-F238E27FC236}">
                <a16:creationId xmlns:a16="http://schemas.microsoft.com/office/drawing/2014/main" id="{5E7AAB9B-B12C-4F5D-793D-87963C9DA56E}"/>
              </a:ext>
            </a:extLst>
          </p:cNvPr>
          <p:cNvSpPr txBox="1"/>
          <p:nvPr/>
        </p:nvSpPr>
        <p:spPr>
          <a:xfrm>
            <a:off x="838200" y="4297298"/>
            <a:ext cx="5820052" cy="1938992"/>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3 Stage wise latency </a:t>
            </a:r>
          </a:p>
          <a:p>
            <a:r>
              <a:rPr lang="en-IN" sz="2000" dirty="0">
                <a:latin typeface="Times New Roman" panose="02020603050405020304" pitchFamily="18" charset="0"/>
                <a:cs typeface="Times New Roman" panose="02020603050405020304" pitchFamily="18" charset="0"/>
              </a:rPr>
              <a:t>Stage-1 Detection = 23 </a:t>
            </a:r>
            <a:r>
              <a:rPr lang="en-IN" sz="2000" dirty="0" err="1">
                <a:latin typeface="Times New Roman" panose="02020603050405020304" pitchFamily="18" charset="0"/>
                <a:cs typeface="Times New Roman" panose="02020603050405020304" pitchFamily="18" charset="0"/>
              </a:rPr>
              <a:t>ms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Stage-2 Localization = 31 </a:t>
            </a:r>
            <a:r>
              <a:rPr lang="en-IN" sz="2000" dirty="0" err="1">
                <a:latin typeface="Times New Roman" panose="02020603050405020304" pitchFamily="18" charset="0"/>
                <a:cs typeface="Times New Roman" panose="02020603050405020304" pitchFamily="18" charset="0"/>
              </a:rPr>
              <a:t>ms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Stage-3 Recognition = 58 </a:t>
            </a:r>
            <a:r>
              <a:rPr lang="en-IN" sz="2000" dirty="0" err="1">
                <a:latin typeface="Times New Roman" panose="02020603050405020304" pitchFamily="18" charset="0"/>
                <a:cs typeface="Times New Roman" panose="02020603050405020304" pitchFamily="18" charset="0"/>
              </a:rPr>
              <a:t>ms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Database + Allocation = 15 </a:t>
            </a:r>
            <a:r>
              <a:rPr lang="en-IN" sz="2000" dirty="0" err="1">
                <a:latin typeface="Times New Roman" panose="02020603050405020304" pitchFamily="18" charset="0"/>
                <a:cs typeface="Times New Roman" panose="02020603050405020304" pitchFamily="18" charset="0"/>
              </a:rPr>
              <a:t>ms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Total Latency = 23 + 31 + 58 + 15 = 127 </a:t>
            </a:r>
            <a:r>
              <a:rPr lang="en-IN" sz="2000" dirty="0" err="1">
                <a:latin typeface="Times New Roman" panose="02020603050405020304" pitchFamily="18" charset="0"/>
                <a:cs typeface="Times New Roman" panose="02020603050405020304" pitchFamily="18" charset="0"/>
              </a:rPr>
              <a:t>ms</a:t>
            </a:r>
            <a:endParaRPr lang="en-IN" sz="2000" dirty="0">
              <a:latin typeface="Times New Roman" panose="02020603050405020304" pitchFamily="18" charset="0"/>
              <a:cs typeface="Times New Roman" panose="02020603050405020304" pitchFamily="18" charset="0"/>
            </a:endParaRPr>
          </a:p>
        </p:txBody>
      </p:sp>
      <p:pic>
        <p:nvPicPr>
          <p:cNvPr id="3" name="Picture 4" descr="C:\Documents and Settings\user.MPILAB35\Desktop\index.jpg">
            <a:extLst>
              <a:ext uri="{FF2B5EF4-FFF2-40B4-BE49-F238E27FC236}">
                <a16:creationId xmlns:a16="http://schemas.microsoft.com/office/drawing/2014/main" id="{1BE26248-DCFE-EDD2-228C-165B344C4402}"/>
              </a:ext>
            </a:extLst>
          </p:cNvPr>
          <p:cNvPicPr>
            <a:picLocks noChangeAspect="1" noChangeArrowheads="1"/>
          </p:cNvPicPr>
          <p:nvPr/>
        </p:nvPicPr>
        <p:blipFill>
          <a:blip r:embed="rId2"/>
          <a:srcRect b="31395"/>
          <a:stretch>
            <a:fillRect/>
          </a:stretch>
        </p:blipFill>
        <p:spPr bwMode="auto">
          <a:xfrm>
            <a:off x="10451913" y="-30951"/>
            <a:ext cx="1600200" cy="1338072"/>
          </a:xfrm>
          <a:prstGeom prst="rect">
            <a:avLst/>
          </a:prstGeom>
          <a:noFill/>
          <a:ln>
            <a:noFill/>
          </a:ln>
        </p:spPr>
      </p:pic>
    </p:spTree>
    <p:extLst>
      <p:ext uri="{BB962C8B-B14F-4D97-AF65-F5344CB8AC3E}">
        <p14:creationId xmlns:p14="http://schemas.microsoft.com/office/powerpoint/2010/main" val="4118778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C041C-27FF-F5C3-5D9F-A6C34DA665F6}"/>
              </a:ext>
            </a:extLst>
          </p:cNvPr>
          <p:cNvSpPr>
            <a:spLocks noGrp="1"/>
          </p:cNvSpPr>
          <p:nvPr>
            <p:ph type="title"/>
          </p:nvPr>
        </p:nvSpPr>
        <p:spPr>
          <a:xfrm>
            <a:off x="337685" y="448574"/>
            <a:ext cx="10515600" cy="1325563"/>
          </a:xfrm>
        </p:spPr>
        <p:txBody>
          <a:bodyPr>
            <a:normAutofit/>
          </a:bodyPr>
          <a:lstStyle/>
          <a:p>
            <a:r>
              <a:rPr lang="en-IN" sz="4800" b="1" dirty="0">
                <a:solidFill>
                  <a:srgbClr val="C00000"/>
                </a:solidFill>
                <a:latin typeface="Times New Roman" panose="02020603050405020304" pitchFamily="18" charset="0"/>
                <a:cs typeface="Times New Roman" panose="02020603050405020304" pitchFamily="18" charset="0"/>
              </a:rPr>
              <a:t>Results &amp; Graphs:</a:t>
            </a:r>
          </a:p>
        </p:txBody>
      </p:sp>
      <p:sp>
        <p:nvSpPr>
          <p:cNvPr id="9" name="TextBox 8">
            <a:extLst>
              <a:ext uri="{FF2B5EF4-FFF2-40B4-BE49-F238E27FC236}">
                <a16:creationId xmlns:a16="http://schemas.microsoft.com/office/drawing/2014/main" id="{5055B6E6-7FB1-07C1-0D99-1713324204B8}"/>
              </a:ext>
            </a:extLst>
          </p:cNvPr>
          <p:cNvSpPr txBox="1"/>
          <p:nvPr/>
        </p:nvSpPr>
        <p:spPr>
          <a:xfrm>
            <a:off x="1900728" y="6003636"/>
            <a:ext cx="9967999" cy="307777"/>
          </a:xfrm>
          <a:prstGeom prst="rect">
            <a:avLst/>
          </a:prstGeom>
          <a:noFill/>
        </p:spPr>
        <p:txBody>
          <a:bodyPr wrap="square">
            <a:spAutoFit/>
          </a:bodyPr>
          <a:lstStyle/>
          <a:p>
            <a:r>
              <a:rPr lang="en-AU" sz="1400" b="1" i="1" dirty="0">
                <a:effectLst/>
                <a:latin typeface="Times New Roman" panose="02020603050405020304" pitchFamily="18" charset="0"/>
                <a:ea typeface="SimSun" panose="02010600030101010101" pitchFamily="2" charset="-122"/>
              </a:rPr>
              <a:t>Figure : Component-wise accuracy analysis across processing stages and environmental conditions.</a:t>
            </a:r>
            <a:endParaRPr lang="en-IN" sz="1400" dirty="0"/>
          </a:p>
        </p:txBody>
      </p:sp>
      <p:pic>
        <p:nvPicPr>
          <p:cNvPr id="4" name="Picture 3">
            <a:extLst>
              <a:ext uri="{FF2B5EF4-FFF2-40B4-BE49-F238E27FC236}">
                <a16:creationId xmlns:a16="http://schemas.microsoft.com/office/drawing/2014/main" id="{1F7DF8A8-C69B-7CCA-8388-FC4353956FFF}"/>
              </a:ext>
            </a:extLst>
          </p:cNvPr>
          <p:cNvPicPr>
            <a:picLocks noChangeAspect="1"/>
          </p:cNvPicPr>
          <p:nvPr/>
        </p:nvPicPr>
        <p:blipFill>
          <a:blip r:embed="rId3">
            <a:extLst>
              <a:ext uri="{28A0092B-C50C-407E-A947-70E740481C1C}">
                <a14:useLocalDpi xmlns:a14="http://schemas.microsoft.com/office/drawing/2010/main" val="0"/>
              </a:ext>
            </a:extLst>
          </a:blip>
          <a:srcRect t="11111" b="26604"/>
          <a:stretch>
            <a:fillRect/>
          </a:stretch>
        </p:blipFill>
        <p:spPr>
          <a:xfrm>
            <a:off x="396814" y="1518653"/>
            <a:ext cx="10779186" cy="4271600"/>
          </a:xfrm>
          <a:prstGeom prst="rect">
            <a:avLst/>
          </a:prstGeom>
        </p:spPr>
      </p:pic>
      <p:pic>
        <p:nvPicPr>
          <p:cNvPr id="3" name="Picture 4" descr="C:\Documents and Settings\user.MPILAB35\Desktop\index.jpg">
            <a:extLst>
              <a:ext uri="{FF2B5EF4-FFF2-40B4-BE49-F238E27FC236}">
                <a16:creationId xmlns:a16="http://schemas.microsoft.com/office/drawing/2014/main" id="{E2B9430B-FA04-DD61-E15B-2009A70BE517}"/>
              </a:ext>
            </a:extLst>
          </p:cNvPr>
          <p:cNvPicPr>
            <a:picLocks noChangeAspect="1" noChangeArrowheads="1"/>
          </p:cNvPicPr>
          <p:nvPr/>
        </p:nvPicPr>
        <p:blipFill>
          <a:blip r:embed="rId4"/>
          <a:srcRect b="31395"/>
          <a:stretch>
            <a:fillRect/>
          </a:stretch>
        </p:blipFill>
        <p:spPr bwMode="auto">
          <a:xfrm>
            <a:off x="10451913" y="-30951"/>
            <a:ext cx="1600200" cy="1338072"/>
          </a:xfrm>
          <a:prstGeom prst="rect">
            <a:avLst/>
          </a:prstGeom>
          <a:noFill/>
          <a:ln>
            <a:noFill/>
          </a:ln>
        </p:spPr>
      </p:pic>
    </p:spTree>
    <p:extLst>
      <p:ext uri="{BB962C8B-B14F-4D97-AF65-F5344CB8AC3E}">
        <p14:creationId xmlns:p14="http://schemas.microsoft.com/office/powerpoint/2010/main" val="3597546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1C045-F59D-5942-1242-F8589D68677F}"/>
              </a:ext>
            </a:extLst>
          </p:cNvPr>
          <p:cNvSpPr>
            <a:spLocks noGrp="1"/>
          </p:cNvSpPr>
          <p:nvPr>
            <p:ph type="title"/>
          </p:nvPr>
        </p:nvSpPr>
        <p:spPr>
          <a:xfrm>
            <a:off x="741872" y="1019662"/>
            <a:ext cx="10515600" cy="1325563"/>
          </a:xfrm>
        </p:spPr>
        <p:txBody>
          <a:bodyPr/>
          <a:lstStyle/>
          <a:p>
            <a:r>
              <a:rPr lang="en-IN" b="1" dirty="0">
                <a:solidFill>
                  <a:srgbClr val="C00000"/>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E1543652-446D-43C0-81B4-4C6195C0E55E}"/>
              </a:ext>
            </a:extLst>
          </p:cNvPr>
          <p:cNvSpPr txBox="1"/>
          <p:nvPr/>
        </p:nvSpPr>
        <p:spPr>
          <a:xfrm>
            <a:off x="1180970" y="4968585"/>
            <a:ext cx="7216670" cy="483017"/>
          </a:xfrm>
          <a:prstGeom prst="rect">
            <a:avLst/>
          </a:prstGeom>
          <a:noFill/>
        </p:spPr>
        <p:txBody>
          <a:bodyPr wrap="square">
            <a:spAutoFit/>
          </a:bodyPr>
          <a:lstStyle/>
          <a:p>
            <a:pPr algn="just">
              <a:lnSpc>
                <a:spcPct val="115000"/>
              </a:lnSpc>
              <a:spcAft>
                <a:spcPts val="1000"/>
              </a:spcAft>
              <a:buNone/>
              <a:tabLst>
                <a:tab pos="2381250" algn="l"/>
                <a:tab pos="4219575" algn="l"/>
              </a:tabLs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4" descr="C:\Documents and Settings\user.MPILAB35\Desktop\index.jpg">
            <a:extLst>
              <a:ext uri="{FF2B5EF4-FFF2-40B4-BE49-F238E27FC236}">
                <a16:creationId xmlns:a16="http://schemas.microsoft.com/office/drawing/2014/main" id="{49AC7E85-3278-1AAB-E277-944E4E5DA4A7}"/>
              </a:ext>
            </a:extLst>
          </p:cNvPr>
          <p:cNvPicPr>
            <a:picLocks noChangeAspect="1" noChangeArrowheads="1"/>
          </p:cNvPicPr>
          <p:nvPr/>
        </p:nvPicPr>
        <p:blipFill>
          <a:blip r:embed="rId2"/>
          <a:srcRect b="31395"/>
          <a:stretch>
            <a:fillRect/>
          </a:stretch>
        </p:blipFill>
        <p:spPr bwMode="auto">
          <a:xfrm>
            <a:off x="10451913" y="-30951"/>
            <a:ext cx="1600200" cy="1338072"/>
          </a:xfrm>
          <a:prstGeom prst="rect">
            <a:avLst/>
          </a:prstGeom>
          <a:noFill/>
          <a:ln>
            <a:noFill/>
          </a:ln>
        </p:spPr>
      </p:pic>
      <p:sp>
        <p:nvSpPr>
          <p:cNvPr id="7" name="Rectangle 2">
            <a:extLst>
              <a:ext uri="{FF2B5EF4-FFF2-40B4-BE49-F238E27FC236}">
                <a16:creationId xmlns:a16="http://schemas.microsoft.com/office/drawing/2014/main" id="{47946580-D666-5D4B-1BE4-EEF8257AC787}"/>
              </a:ext>
            </a:extLst>
          </p:cNvPr>
          <p:cNvSpPr>
            <a:spLocks noChangeArrowheads="1"/>
          </p:cNvSpPr>
          <p:nvPr/>
        </p:nvSpPr>
        <p:spPr bwMode="auto">
          <a:xfrm>
            <a:off x="741872" y="2529891"/>
            <a:ext cx="1101018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smart parking solution based on a hybrid cascade-CNN architecture is developed to integrate real-time vehicle detection, license plate recognition, and dynamic slot allocation for multi-level parking environments. The proposed three-stage processing pipeline delivers high accuracy with a fast 127 </a:t>
            </a:r>
            <a:r>
              <a:rPr kumimoji="0" lang="en-US" altLang="en-US"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execution time, enabling support for up to 28 vehicles per minute. By applying an intelligent dynamic allocation strategy, the system minimizes parking search time and improves overall space utilization, while its edge-based implementation ensures stable and reliable performance during continuous real-world operation.</a:t>
            </a:r>
          </a:p>
        </p:txBody>
      </p:sp>
    </p:spTree>
    <p:extLst>
      <p:ext uri="{BB962C8B-B14F-4D97-AF65-F5344CB8AC3E}">
        <p14:creationId xmlns:p14="http://schemas.microsoft.com/office/powerpoint/2010/main" val="2470959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700FD-A10F-982C-2EEE-5AFEC14D2851}"/>
              </a:ext>
            </a:extLst>
          </p:cNvPr>
          <p:cNvSpPr>
            <a:spLocks noGrp="1"/>
          </p:cNvSpPr>
          <p:nvPr>
            <p:ph type="title"/>
          </p:nvPr>
        </p:nvSpPr>
        <p:spPr>
          <a:xfrm>
            <a:off x="838200" y="601889"/>
            <a:ext cx="10515600" cy="1325563"/>
          </a:xfrm>
        </p:spPr>
        <p:txBody>
          <a:bodyPr>
            <a:normAutofit/>
          </a:bodyPr>
          <a:lstStyle/>
          <a:p>
            <a:r>
              <a:rPr lang="en-IN" sz="4800" b="1" dirty="0">
                <a:solidFill>
                  <a:srgbClr val="C0000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617BE7C1-469C-428E-C3EE-D23DAE45786C}"/>
              </a:ext>
            </a:extLst>
          </p:cNvPr>
          <p:cNvSpPr>
            <a:spLocks noGrp="1"/>
          </p:cNvSpPr>
          <p:nvPr>
            <p:ph idx="1"/>
          </p:nvPr>
        </p:nvSpPr>
        <p:spPr>
          <a:xfrm>
            <a:off x="838200" y="1825625"/>
            <a:ext cx="10515600" cy="4935393"/>
          </a:xfrm>
        </p:spPr>
        <p:txBody>
          <a:bodyPr>
            <a:normAutofit fontScale="70000" lnSpcReduction="20000"/>
          </a:bodyPr>
          <a:lstStyle/>
          <a:p>
            <a:pPr marL="514350" lvl="0" indent="-514350">
              <a:buFont typeface="+mj-lt"/>
              <a:buAutoNum type="arabicPeriod"/>
            </a:pPr>
            <a:r>
              <a:rPr lang="en-US" dirty="0"/>
              <a:t>Rahman and S. Ahmed, “IoT-enabled wireless sensor networks for distributed parking occupancy monitoring,” IEEE Sensors Journal, vol. 23, no. 12, pp. 13456–13468, 2023.</a:t>
            </a:r>
            <a:endParaRPr lang="en-IN" dirty="0"/>
          </a:p>
          <a:p>
            <a:pPr marL="514350" lvl="0" indent="-514350">
              <a:buFont typeface="+mj-lt"/>
              <a:buAutoNum type="arabicPeriod"/>
            </a:pPr>
            <a:r>
              <a:rPr lang="en-US" dirty="0"/>
              <a:t>M. Fernandez, A. Garcia, and P. Rodriguez, “Edge-deployable parking occupancy monitoring using lightweight neural networks,” IEEE Internet of Things Journal, vol. 11, no. 4, pp. 5623–5637, 2024.</a:t>
            </a:r>
            <a:endParaRPr lang="en-IN" dirty="0"/>
          </a:p>
          <a:p>
            <a:pPr marL="514350" lvl="0" indent="-514350">
              <a:buFont typeface="+mj-lt"/>
              <a:buAutoNum type="arabicPeriod"/>
            </a:pPr>
            <a:r>
              <a:rPr lang="en-US" dirty="0"/>
              <a:t>T. Nguyen and H. Tran, “YOLOv8 optimization for parking-specific vehicle detection with multi-scale feature fusion,” Neurocomputing, vol. 572, p. 127189, 2024.</a:t>
            </a:r>
            <a:endParaRPr lang="en-IN" dirty="0"/>
          </a:p>
          <a:p>
            <a:pPr marL="514350" lvl="0" indent="-514350">
              <a:buFont typeface="+mj-lt"/>
              <a:buAutoNum type="arabicPeriod"/>
            </a:pPr>
            <a:r>
              <a:rPr lang="en-US" dirty="0"/>
              <a:t>P. Silva and M. Costa, “Spatial transformer networks for geometric normalization in license plate recognition,” Neural Networks, vol. 172, p. 106089, 2024.</a:t>
            </a:r>
            <a:endParaRPr lang="en-IN" dirty="0"/>
          </a:p>
          <a:p>
            <a:pPr marL="514350" lvl="0" indent="-514350">
              <a:buFont typeface="+mj-lt"/>
              <a:buAutoNum type="arabicPeriod"/>
            </a:pPr>
            <a:r>
              <a:rPr lang="en-US" dirty="0"/>
              <a:t>Y. Zhou and M. Wang, “Transformer-based sequence modeling for license plate character recognition,” Computer Vision and Image Understanding, vol. 241, p. 103945, 2024.</a:t>
            </a:r>
            <a:endParaRPr lang="en-IN" dirty="0"/>
          </a:p>
          <a:p>
            <a:pPr marL="514350" lvl="0" indent="-514350">
              <a:buFont typeface="+mj-lt"/>
              <a:buAutoNum type="arabicPeriod"/>
            </a:pPr>
            <a:r>
              <a:rPr lang="en-US" dirty="0"/>
              <a:t>L. Chen and W. Zhang, “Deep reinforcement learning for dynamic parking space allocation in smart cities,” Transportation Research Part C: Emerging Technologies, vol. 159, p. 104478, 2024.</a:t>
            </a:r>
            <a:endParaRPr lang="en-IN" dirty="0"/>
          </a:p>
          <a:p>
            <a:pPr marL="514350" indent="-514350">
              <a:buFont typeface="+mj-lt"/>
              <a:buAutoNum type="arabicPeriod"/>
            </a:pPr>
            <a:r>
              <a:rPr lang="en-US" dirty="0"/>
              <a:t>J. Anderson and K. Brown, “Attention-enhanced YOLO architectures for vehicle detection in congested parking environments,” IEEE Transactions on Intelligent Transportation Systems, vol. 24, no. 7, pp. 7234–7248, 2023.</a:t>
            </a:r>
            <a:endParaRPr lang="en-IN" dirty="0"/>
          </a:p>
          <a:p>
            <a:endParaRPr lang="en-IN" dirty="0">
              <a:latin typeface="Times New Roman" panose="02020603050405020304" pitchFamily="18" charset="0"/>
              <a:cs typeface="Times New Roman" panose="02020603050405020304" pitchFamily="18" charset="0"/>
            </a:endParaRPr>
          </a:p>
        </p:txBody>
      </p:sp>
      <p:pic>
        <p:nvPicPr>
          <p:cNvPr id="4" name="Picture 4" descr="C:\Documents and Settings\user.MPILAB35\Desktop\index.jpg">
            <a:extLst>
              <a:ext uri="{FF2B5EF4-FFF2-40B4-BE49-F238E27FC236}">
                <a16:creationId xmlns:a16="http://schemas.microsoft.com/office/drawing/2014/main" id="{CA28016A-0EB1-AED2-4881-7EBF5F8187C7}"/>
              </a:ext>
            </a:extLst>
          </p:cNvPr>
          <p:cNvPicPr>
            <a:picLocks noChangeAspect="1" noChangeArrowheads="1"/>
          </p:cNvPicPr>
          <p:nvPr/>
        </p:nvPicPr>
        <p:blipFill>
          <a:blip r:embed="rId2"/>
          <a:srcRect b="31395"/>
          <a:stretch>
            <a:fillRect/>
          </a:stretch>
        </p:blipFill>
        <p:spPr bwMode="auto">
          <a:xfrm>
            <a:off x="10451913" y="-30951"/>
            <a:ext cx="1600200" cy="1338072"/>
          </a:xfrm>
          <a:prstGeom prst="rect">
            <a:avLst/>
          </a:prstGeom>
          <a:noFill/>
          <a:ln>
            <a:noFill/>
          </a:ln>
        </p:spPr>
      </p:pic>
    </p:spTree>
    <p:extLst>
      <p:ext uri="{BB962C8B-B14F-4D97-AF65-F5344CB8AC3E}">
        <p14:creationId xmlns:p14="http://schemas.microsoft.com/office/powerpoint/2010/main" val="3567734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AAAD-AB4D-01A4-EB2D-3C7DB7EFC18B}"/>
              </a:ext>
            </a:extLst>
          </p:cNvPr>
          <p:cNvSpPr>
            <a:spLocks noGrp="1"/>
          </p:cNvSpPr>
          <p:nvPr>
            <p:ph type="title"/>
          </p:nvPr>
        </p:nvSpPr>
        <p:spPr>
          <a:xfrm>
            <a:off x="3877235" y="2310467"/>
            <a:ext cx="5481917" cy="1325563"/>
          </a:xfrm>
        </p:spPr>
        <p:txBody>
          <a:bodyPr>
            <a:normAutofit/>
          </a:bodyPr>
          <a:lstStyle/>
          <a:p>
            <a:r>
              <a:rPr lang="en-US" sz="6000" b="1" dirty="0">
                <a:solidFill>
                  <a:srgbClr val="C00000"/>
                </a:solidFill>
                <a:latin typeface="Times New Roman" panose="02020603050405020304" pitchFamily="18" charset="0"/>
                <a:cs typeface="Times New Roman" panose="02020603050405020304" pitchFamily="18" charset="0"/>
              </a:rPr>
              <a:t>THANK YOU </a:t>
            </a:r>
            <a:endParaRPr lang="en-IN" sz="6000" b="1" dirty="0">
              <a:solidFill>
                <a:srgbClr val="C00000"/>
              </a:solidFill>
              <a:latin typeface="Times New Roman" panose="02020603050405020304" pitchFamily="18" charset="0"/>
              <a:cs typeface="Times New Roman" panose="02020603050405020304" pitchFamily="18" charset="0"/>
            </a:endParaRPr>
          </a:p>
        </p:txBody>
      </p:sp>
      <p:pic>
        <p:nvPicPr>
          <p:cNvPr id="4" name="Picture 4" descr="C:\Documents and Settings\user.MPILAB35\Desktop\index.jpg">
            <a:extLst>
              <a:ext uri="{FF2B5EF4-FFF2-40B4-BE49-F238E27FC236}">
                <a16:creationId xmlns:a16="http://schemas.microsoft.com/office/drawing/2014/main" id="{D7BBB040-D5DA-1B7E-49CF-C8445AFA81C3}"/>
              </a:ext>
            </a:extLst>
          </p:cNvPr>
          <p:cNvPicPr>
            <a:picLocks noChangeAspect="1" noChangeArrowheads="1"/>
          </p:cNvPicPr>
          <p:nvPr/>
        </p:nvPicPr>
        <p:blipFill>
          <a:blip r:embed="rId2"/>
          <a:srcRect b="31395"/>
          <a:stretch>
            <a:fillRect/>
          </a:stretch>
        </p:blipFill>
        <p:spPr bwMode="auto">
          <a:xfrm>
            <a:off x="10451913" y="-30951"/>
            <a:ext cx="1600200" cy="1338072"/>
          </a:xfrm>
          <a:prstGeom prst="rect">
            <a:avLst/>
          </a:prstGeom>
          <a:noFill/>
          <a:ln>
            <a:noFill/>
          </a:ln>
        </p:spPr>
      </p:pic>
    </p:spTree>
    <p:extLst>
      <p:ext uri="{BB962C8B-B14F-4D97-AF65-F5344CB8AC3E}">
        <p14:creationId xmlns:p14="http://schemas.microsoft.com/office/powerpoint/2010/main" val="1558047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1521</TotalTime>
  <Words>1874</Words>
  <Application>Microsoft Office PowerPoint</Application>
  <PresentationFormat>Widescreen</PresentationFormat>
  <Paragraphs>249</Paragraphs>
  <Slides>19</Slides>
  <Notes>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Contents</vt:lpstr>
      <vt:lpstr>Introduction</vt:lpstr>
      <vt:lpstr>Objectives of the Project</vt:lpstr>
      <vt:lpstr>Literature Review:</vt:lpstr>
      <vt:lpstr>PowerPoint Presentation</vt:lpstr>
      <vt:lpstr>Proposed System</vt:lpstr>
      <vt:lpstr>Comparision Table</vt:lpstr>
      <vt:lpstr>Block Diagram</vt:lpstr>
      <vt:lpstr>Methodology / System Design</vt:lpstr>
      <vt:lpstr>Hardware &amp; Software Requirements</vt:lpstr>
      <vt:lpstr>Implementation</vt:lpstr>
      <vt:lpstr>Implementation:</vt:lpstr>
      <vt:lpstr>Calculation:</vt:lpstr>
      <vt:lpstr>Stage 3 : Recognition accuracy</vt:lpstr>
      <vt:lpstr>Results &amp; Graphs:</vt:lpstr>
      <vt:lpstr>Conclusion</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seetaram jharapla</dc:creator>
  <cp:lastModifiedBy>K LASYA PRIYA</cp:lastModifiedBy>
  <cp:revision>37</cp:revision>
  <dcterms:created xsi:type="dcterms:W3CDTF">2025-10-31T09:44:17Z</dcterms:created>
  <dcterms:modified xsi:type="dcterms:W3CDTF">2026-04-15T05:43:53Z</dcterms:modified>
</cp:coreProperties>
</file>